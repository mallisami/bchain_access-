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1C82-2A11-C39A-B160-2C60767F3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7CEF6-D5A5-0F12-6895-8DF8BE7FA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5321E-E24E-9CAC-69CC-EA2A8ACF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0C4A8-A28B-A1E5-FF64-57C402091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B07B-B32B-479D-1413-77AD81D9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413A-B2B4-0076-8BBF-A720FF85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B0F23-50A4-AF96-8BA7-FC3C24092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6B15-BE4F-5E17-5B93-7AE5C3F0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90197-427E-C8E2-B194-AFD72763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C3114-65B4-28B2-A9DA-52CE95E0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7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97475-17D1-A28D-F8CD-10BA91EB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6AD13-7D52-0BF0-DCC7-814B2696D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A673A-D86F-BA5A-0B3E-F514DBA9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46126-2EBD-83A4-000E-C1E6106D3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9E6E5-9E70-0AB6-09A8-25B33F6D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5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62DE-B4A3-AA96-AB54-21E510DC7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19044-0432-FB33-5E4B-E81EE4CE7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860E-D56C-83FA-5D3E-372AD216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C890D-1B98-705A-5BFC-91C70B03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28943-069E-0E4F-A4DC-ACE13C7F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67865-1BF8-4D36-18D3-08E9AEC5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22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C745-2D34-DA43-ADA5-EE6FF17E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91416-9DD0-70C0-BC01-2D8BD7265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EE670-E49F-76B1-712E-D30F43F69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D63E5-CAB6-57CA-F6D4-785F442EE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84486-6D51-4367-BA3F-0342A8673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EBDE-E75E-260C-4FBB-ACF66A8F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2221D-CFF4-DB7F-ED33-ECFE7B05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1F121-A936-7E20-DD21-525B5F67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7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4B2F-6434-CDAD-A080-6BC10D75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4289D-C84B-1A64-94A9-89685877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48A3E-ECAA-D622-6CF5-93E7AAFC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9A5-D02C-A440-935F-59FB588B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0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1E402-ECF9-BC38-DA52-7A076B6B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EDBB-558E-78BE-2BCD-361CB4EF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14CF3-94F9-E251-60D7-6253FACD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8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F39E-553B-8E3C-AC91-6B33E360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BE83-457E-E8C3-81DB-CB01EBF46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0F063-E0AC-4C6E-FFD0-A5723755F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A2D72-10F2-8F0C-3721-A568C5715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2AC17-C584-99B2-3B4C-A8EDC95C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4BA3C-116D-2D07-982B-BCE0856B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0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3B56-58EA-9A25-90B7-5F601964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9C7CD-0B57-FAEE-75DF-A0AE1FC09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603FA-5B98-AA02-FCFE-AD2383052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9AAD2-5E67-0CE2-D933-D7E04280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4302B-F581-0AA9-0DE0-5A358D26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79550-0861-4268-61DC-15CBBA86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0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F9FDE-0B95-BC41-68B7-154BB4D9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C11D1-A4EC-9FFC-5A49-084DFE84C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66BF8-16E6-ED7E-2F7D-32559BF4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E392-26BF-725C-1DE3-4E383CD7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91431-727B-985E-62E7-E4E21F13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4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61D8F-EA79-97D2-98D9-A221F051C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57C05-42A3-6205-F40F-DDA63FAD7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63F22-EFE2-41EA-3EFC-45365849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63B97-0F5B-D37C-3709-86A78498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0EF32-13D6-EA96-FE3E-B0A2CCF3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5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D84AE-EAAC-3838-260A-C717506C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57462-15EC-867A-8C11-26EBC56B9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ED7C1-730D-33A8-C8FE-3DFEBB386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4B958-401A-4A89-98CA-0A39E34EFB4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8B4B5-3B18-24F2-A405-69AB339CA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D66DE-DB67-49A2-547F-3603FB205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5515E-906D-4A46-88BA-63D09FD3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0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8712" y="182880"/>
            <a:ext cx="2926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712" y="182880"/>
            <a:ext cx="2926080" cy="3657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12" y="228600"/>
            <a:ext cx="29260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 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7537" y="182880"/>
            <a:ext cx="3091313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1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67538" y="182880"/>
            <a:ext cx="3104376" cy="365760"/>
          </a:xfrm>
          <a:prstGeom prst="rect">
            <a:avLst/>
          </a:prstGeom>
          <a:solidFill>
            <a:srgbClr val="5E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32770" y="228600"/>
            <a:ext cx="29260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  BLOCKCHAIN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3414" y="594360"/>
            <a:ext cx="2926080" cy="16004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/>
            <a:r>
              <a:rPr sz="14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trust, transparency
and tamper resistance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PBFT consensus (production target)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Smart contract consent automation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On-chain hash, off-chain data (GDPR)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Layer-2 solutions for 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7537" y="4076298"/>
            <a:ext cx="3091313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67536" y="4076298"/>
            <a:ext cx="3091314" cy="3657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32770" y="4122018"/>
            <a:ext cx="29260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P3 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4210" y="4487778"/>
            <a:ext cx="2743200" cy="138499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algn="l"/>
            <a:r>
              <a:rPr sz="14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compliance, risk
management and ethical oversight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GDPR Articles 6, 13 and 17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HIPAA data handling standards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EN 301 549 (Europe)</a:t>
            </a:r>
          </a:p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Section 508 (United States)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712" y="4076298"/>
            <a:ext cx="2926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8712" y="4076298"/>
            <a:ext cx="2926080" cy="36576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712" y="4122018"/>
            <a:ext cx="29260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P4  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152" y="4487778"/>
            <a:ext cx="2743200" cy="138499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algn="l"/>
            <a:r>
              <a:rPr sz="140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HCI principles, inclusive design,
and barrier removal</a:t>
            </a:r>
          </a:p>
          <a:p>
            <a:pPr algn="l"/>
            <a:r>
              <a:rPr sz="1400" b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WCAG 2.1 Level AA compliance</a:t>
            </a:r>
          </a:p>
          <a:p>
            <a:pPr algn="l"/>
            <a:r>
              <a:rPr sz="1400" b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AAD, PTD, CID, UAC principles</a:t>
            </a:r>
          </a:p>
          <a:p>
            <a:pPr algn="l"/>
            <a:r>
              <a:rPr sz="1400" b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Guardian-delegated authentication</a:t>
            </a:r>
          </a:p>
          <a:p>
            <a:pPr algn="l"/>
            <a:r>
              <a:rPr sz="1400" b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Adjustable session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26448" y="182880"/>
            <a:ext cx="5029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0" y="274320"/>
            <a:ext cx="484632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 ×  Blockchain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PBFT consensus supports smart-contract consent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712" y="2420754"/>
            <a:ext cx="2926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152" y="2640530"/>
            <a:ext cx="274320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 ×  Accessibility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Guardian-delegated authentication
and accessible consent flows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3414" y="2613258"/>
            <a:ext cx="2985436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24210" y="2704698"/>
            <a:ext cx="2743200" cy="9541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 ×  Governance</a:t>
            </a:r>
          </a:p>
          <a:p>
            <a:pPr algn="ctr"/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GDPR-compliant erasure workaround using encrypted off-chain storage and pointers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263960"/>
            <a:ext cx="5029200" cy="7769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72840" y="4371044"/>
            <a:ext cx="484632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 ×  Governance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WCAG 2.1 as legal mandate and accessibility law alignment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9271" y="1287510"/>
            <a:ext cx="5427045" cy="270951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4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371246" y="1288943"/>
            <a:ext cx="5441484" cy="457200"/>
          </a:xfrm>
          <a:prstGeom prst="rect">
            <a:avLst/>
          </a:prstGeom>
          <a:solidFill>
            <a:srgbClr val="00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4720" y="1281018"/>
            <a:ext cx="533801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BCHAIN-ACCESS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1884276"/>
            <a:ext cx="1303020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AAD</a:t>
            </a:r>
          </a:p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Abstracted
Authentication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Simplify
secure 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7740" y="1884276"/>
            <a:ext cx="1303020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PTD</a:t>
            </a:r>
          </a:p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Progressive
Transparency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Present info
progressively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1884276"/>
            <a:ext cx="1303020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CID</a:t>
            </a:r>
          </a:p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Confirmatory
Interaction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Prevent errors
via confirm.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3780" y="1884276"/>
            <a:ext cx="1303020" cy="13234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UAC</a:t>
            </a:r>
          </a:p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
Assistive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Usable for
all (</a:t>
            </a:r>
            <a:r>
              <a:rPr sz="1400" b="0" i="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PwDs</a:t>
            </a:r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68306" y="3369860"/>
            <a:ext cx="521208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74720" y="3410419"/>
            <a:ext cx="52120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 |  Accessible  |  Compliant  |  Transparent  |  User-Centered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5223818"/>
            <a:ext cx="5029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0" y="5315258"/>
            <a:ext cx="484632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0B6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FOUNDATION</a:t>
            </a:r>
          </a:p>
          <a:p>
            <a:pPr algn="ctr"/>
            <a:r>
              <a:rPr sz="14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WCAG 2.1 Level AA  •  Nielsen's Heuristics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Guiding design, development, and evaluation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6229658"/>
            <a:ext cx="630936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17520" y="6245234"/>
            <a:ext cx="612648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TARGET USERS: PEOPLE WITH DISABILITIES (</a:t>
            </a:r>
            <a:r>
              <a:rPr sz="1400" b="1" i="0" dirty="0" err="1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PwDs</a:t>
            </a:r>
            <a:r>
              <a:rPr sz="14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sz="14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refined through expert evaluation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055598" y="2863285"/>
            <a:ext cx="336082" cy="207172"/>
          </a:xfrm>
          <a:prstGeom prst="rightArrow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Left Arrow 42"/>
          <p:cNvSpPr/>
          <p:nvPr/>
        </p:nvSpPr>
        <p:spPr>
          <a:xfrm>
            <a:off x="8799786" y="3110407"/>
            <a:ext cx="274320" cy="182880"/>
          </a:xfrm>
          <a:prstGeom prst="leftArrow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Connector 46"/>
          <p:cNvCxnSpPr>
            <a:cxnSpLocks/>
          </p:cNvCxnSpPr>
          <p:nvPr/>
        </p:nvCxnSpPr>
        <p:spPr>
          <a:xfrm>
            <a:off x="3044792" y="1005840"/>
            <a:ext cx="5816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cxnSpLocks/>
          </p:cNvCxnSpPr>
          <p:nvPr/>
        </p:nvCxnSpPr>
        <p:spPr>
          <a:xfrm>
            <a:off x="8645600" y="1005840"/>
            <a:ext cx="31188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cxnSpLocks/>
          </p:cNvCxnSpPr>
          <p:nvPr/>
        </p:nvCxnSpPr>
        <p:spPr>
          <a:xfrm>
            <a:off x="3049604" y="4807818"/>
            <a:ext cx="51655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</p:cNvCxnSpPr>
          <p:nvPr/>
        </p:nvCxnSpPr>
        <p:spPr>
          <a:xfrm>
            <a:off x="8595360" y="4807818"/>
            <a:ext cx="37217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4">
            <a:extLst>
              <a:ext uri="{FF2B5EF4-FFF2-40B4-BE49-F238E27FC236}">
                <a16:creationId xmlns:a16="http://schemas.microsoft.com/office/drawing/2014/main" id="{A746C415-1075-AB62-5163-564019B8C9BE}"/>
              </a:ext>
            </a:extLst>
          </p:cNvPr>
          <p:cNvSpPr txBox="1"/>
          <p:nvPr/>
        </p:nvSpPr>
        <p:spPr>
          <a:xfrm>
            <a:off x="447523" y="625803"/>
            <a:ext cx="2534701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integrity, access control and </a:t>
            </a:r>
          </a:p>
          <a:p>
            <a:pPr algn="l"/>
            <a:r>
              <a:rPr lang="en-US" sz="1400" dirty="0">
                <a:solidFill>
                  <a:srgbClr val="11182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patient-centered care</a:t>
            </a:r>
          </a:p>
        </p:txBody>
      </p:sp>
      <p:sp>
        <p:nvSpPr>
          <p:cNvPr id="54" name="TextBox 5">
            <a:extLst>
              <a:ext uri="{FF2B5EF4-FFF2-40B4-BE49-F238E27FC236}">
                <a16:creationId xmlns:a16="http://schemas.microsoft.com/office/drawing/2014/main" id="{8A81AA1D-0DCB-AAB5-07BB-0AA52B7B54D4}"/>
              </a:ext>
            </a:extLst>
          </p:cNvPr>
          <p:cNvSpPr txBox="1"/>
          <p:nvPr/>
        </p:nvSpPr>
        <p:spPr>
          <a:xfrm>
            <a:off x="285821" y="1139645"/>
            <a:ext cx="266753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Patient data integrity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• Authorized access control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• Emergency access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protocols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Care continuity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C353D0C-4E02-BC37-0912-72971552EE88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>
          <a:xfrm>
            <a:off x="6141048" y="1097280"/>
            <a:ext cx="2677" cy="183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187D29B-425C-7811-E6D8-33130FEEB3BA}"/>
              </a:ext>
            </a:extLst>
          </p:cNvPr>
          <p:cNvCxnSpPr>
            <a:cxnSpLocks/>
          </p:cNvCxnSpPr>
          <p:nvPr/>
        </p:nvCxnSpPr>
        <p:spPr>
          <a:xfrm flipV="1">
            <a:off x="6195645" y="3985695"/>
            <a:ext cx="0" cy="273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2E3839B-0A52-579D-AABC-9408E261BAB0}"/>
              </a:ext>
            </a:extLst>
          </p:cNvPr>
          <p:cNvCxnSpPr>
            <a:cxnSpLocks/>
          </p:cNvCxnSpPr>
          <p:nvPr/>
        </p:nvCxnSpPr>
        <p:spPr>
          <a:xfrm flipV="1">
            <a:off x="6187267" y="5030572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5976289-E570-F4F0-C13B-0FB444EDCA76}"/>
              </a:ext>
            </a:extLst>
          </p:cNvPr>
          <p:cNvCxnSpPr>
            <a:cxnSpLocks/>
          </p:cNvCxnSpPr>
          <p:nvPr/>
        </p:nvCxnSpPr>
        <p:spPr>
          <a:xfrm flipH="1">
            <a:off x="6191288" y="6044267"/>
            <a:ext cx="2677" cy="18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2026-07-13T08:53:03Z</dcterms:created>
  <dcterms:modified xsi:type="dcterms:W3CDTF">2026-07-13T08:53:30Z</dcterms:modified>
</cp:coreProperties>
</file>