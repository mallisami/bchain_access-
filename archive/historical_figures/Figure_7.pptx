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8159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749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760" y="365760"/>
            <a:ext cx="548640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365760" y="365760"/>
            <a:ext cx="5486400" cy="365760"/>
          </a:xfrm>
          <a:prstGeom prst="roundRect">
            <a:avLst/>
          </a:prstGeom>
          <a:solidFill>
            <a:srgbClr val="0B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548640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HEURISTIC EVALUATION  PER-HEURISTIC SEVERITY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548640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Per-heuristic mean severity finer-grained re-rating (0-4 scale)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05840"/>
            <a:ext cx="50292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411480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41148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1005840"/>
            <a:ext cx="50292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H2</a:t>
            </a:r>
            <a:endParaRPr sz="900" b="1" i="0" dirty="0">
              <a:solidFill>
                <a:srgbClr val="1E1E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133856" y="1234440"/>
            <a:ext cx="411480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33856" y="1280160"/>
            <a:ext cx="41148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1005840"/>
            <a:ext cx="50292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H3</a:t>
            </a:r>
            <a:endParaRPr sz="900" b="1" i="0" dirty="0">
              <a:solidFill>
                <a:srgbClr val="1E1E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1627632" y="1234440"/>
            <a:ext cx="411480" cy="320040"/>
          </a:xfrm>
          <a:prstGeom prst="round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27632" y="1280160"/>
            <a:ext cx="41148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0.6</a:t>
            </a:r>
            <a:endParaRPr sz="900" b="1" i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75688" y="1005840"/>
            <a:ext cx="50292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H4</a:t>
            </a:r>
            <a:endParaRPr sz="900" b="1" i="0" dirty="0">
              <a:solidFill>
                <a:srgbClr val="1E1E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121408" y="1234440"/>
            <a:ext cx="411480" cy="320040"/>
          </a:xfrm>
          <a:prstGeom prst="round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121408" y="1280160"/>
            <a:ext cx="41148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0.3</a:t>
            </a:r>
            <a:endParaRPr sz="900" b="1" i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569464" y="1005840"/>
            <a:ext cx="50292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H5</a:t>
            </a:r>
            <a:endParaRPr sz="900" b="1" i="0" dirty="0">
              <a:solidFill>
                <a:srgbClr val="1E1E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615184" y="1234440"/>
            <a:ext cx="411480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615184" y="1280160"/>
            <a:ext cx="41148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1005840"/>
            <a:ext cx="50292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H6</a:t>
            </a:r>
            <a:endParaRPr sz="900" b="1" i="0" dirty="0">
              <a:solidFill>
                <a:srgbClr val="1E1E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108960" y="1234440"/>
            <a:ext cx="411480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108960" y="1280160"/>
            <a:ext cx="41148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57016" y="1005840"/>
            <a:ext cx="50292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02736" y="1234440"/>
            <a:ext cx="411480" cy="320040"/>
          </a:xfrm>
          <a:prstGeom prst="round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602736" y="1280160"/>
            <a:ext cx="41148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0.7</a:t>
            </a:r>
            <a:endParaRPr sz="900" b="1" i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050792" y="1005840"/>
            <a:ext cx="50292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96512" y="1234440"/>
            <a:ext cx="411480" cy="320040"/>
          </a:xfrm>
          <a:prstGeom prst="round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096512" y="1280160"/>
            <a:ext cx="41148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0.2</a:t>
            </a:r>
            <a:endParaRPr sz="900" b="1" i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44568" y="1005840"/>
            <a:ext cx="50292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H9</a:t>
            </a:r>
            <a:endParaRPr sz="900" b="1" i="0" dirty="0">
              <a:solidFill>
                <a:srgbClr val="1E1E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590288" y="1234440"/>
            <a:ext cx="411480" cy="320040"/>
          </a:xfrm>
          <a:prstGeom prst="roundRect">
            <a:avLst/>
          </a:prstGeom>
          <a:solidFill>
            <a:srgbClr val="FDD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90288" y="1280160"/>
            <a:ext cx="41148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1.0</a:t>
            </a:r>
            <a:endParaRPr sz="900" b="1" i="0" dirty="0">
              <a:solidFill>
                <a:srgbClr val="1E1E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038344" y="1005840"/>
            <a:ext cx="50292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H10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84064" y="1234440"/>
            <a:ext cx="411480" cy="320040"/>
          </a:xfrm>
          <a:prstGeom prst="round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084064" y="1280160"/>
            <a:ext cx="41148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0.2</a:t>
            </a:r>
            <a:endParaRPr sz="900" b="1" i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40080" y="1691640"/>
            <a:ext cx="987552" cy="5486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627632" y="1691640"/>
            <a:ext cx="987552" cy="54864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615184" y="1691640"/>
            <a:ext cx="987552" cy="54864"/>
          </a:xfrm>
          <a:prstGeom prst="rect">
            <a:avLst/>
          </a:prstGeom>
          <a:solidFill>
            <a:srgbClr val="FDD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602736" y="1691640"/>
            <a:ext cx="987552" cy="54864"/>
          </a:xfrm>
          <a:prstGeom prst="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590288" y="1691640"/>
            <a:ext cx="987552" cy="54864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77009" y="1764792"/>
            <a:ext cx="914400" cy="4001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
No problem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70432" y="1764792"/>
            <a:ext cx="914400" cy="4001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
Cosmetic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57984" y="1764792"/>
            <a:ext cx="914400" cy="4001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
Minor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145536" y="1764792"/>
            <a:ext cx="914400" cy="4001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
Major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33088" y="1764792"/>
            <a:ext cx="914400" cy="4001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
Catastrophic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" y="2286000"/>
            <a:ext cx="4937760" cy="8229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0B6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40080" y="2331720"/>
            <a:ext cx="1234440" cy="6463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</a:t>
            </a:r>
            <a:r>
              <a:rPr sz="1200" b="1" i="0" dirty="0">
                <a:solidFill>
                  <a:srgbClr val="0B6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0.30</a:t>
            </a:r>
            <a:r>
              <a:rPr sz="1200" b="0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(coarse 0.10)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74520" y="2331720"/>
            <a:ext cx="1234440" cy="6463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sz="1200" b="1" i="0" dirty="0">
                <a:solidFill>
                  <a:srgbClr val="0B6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1.0</a:t>
            </a:r>
            <a:r>
              <a:rPr sz="1200" b="0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(H9)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08960" y="2331720"/>
            <a:ext cx="1234440" cy="6463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Non-zero</a:t>
            </a:r>
            <a:r>
              <a:rPr sz="1200" b="1" i="0" dirty="0">
                <a:solidFill>
                  <a:srgbClr val="0B6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6/10</a:t>
            </a:r>
            <a:r>
              <a:rPr sz="1200" b="0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heuristics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43400" y="2331720"/>
            <a:ext cx="1234440" cy="6463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1200" b="1" i="0" dirty="0">
                <a:solidFill>
                  <a:srgbClr val="0B6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10</a:t>
            </a:r>
            <a:r>
              <a:rPr sz="1200" b="0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heuristics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26480" y="365760"/>
            <a:ext cx="566928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6126480" y="365760"/>
            <a:ext cx="5669280" cy="365760"/>
          </a:xfrm>
          <a:prstGeom prst="roundRect">
            <a:avLst/>
          </a:prstGeom>
          <a:solidFill>
            <a:srgbClr val="004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126480" y="411480"/>
            <a:ext cx="566928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COGNITIVE WALKTHROUGH  TASK-BASED EVALUATION</a:t>
            </a:r>
          </a:p>
        </p:txBody>
      </p:sp>
      <p:sp>
        <p:nvSpPr>
          <p:cNvPr id="62" name="Oval 61"/>
          <p:cNvSpPr/>
          <p:nvPr/>
        </p:nvSpPr>
        <p:spPr>
          <a:xfrm>
            <a:off x="6583680" y="914400"/>
            <a:ext cx="1828800" cy="1828800"/>
          </a:xfrm>
          <a:prstGeom prst="ellipse">
            <a:avLst/>
          </a:prstGeom>
          <a:solidFill>
            <a:srgbClr val="004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6858000" y="1188720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858000" y="1600200"/>
            <a:ext cx="1280160" cy="3693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 i="0" dirty="0">
                <a:solidFill>
                  <a:srgbClr val="004B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0" y="2834640"/>
            <a:ext cx="219456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 i="0" dirty="0">
                <a:solidFill>
                  <a:srgbClr val="004B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Completion Rate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686800" y="914400"/>
            <a:ext cx="2834640" cy="5486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9326880" y="1051560"/>
            <a:ext cx="219456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 dirty="0">
                <a:solidFill>
                  <a:srgbClr val="004B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  </a:t>
            </a:r>
            <a:r>
              <a:rPr sz="1200" b="0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tasks completed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686800" y="1645920"/>
            <a:ext cx="2834640" cy="5486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9326880" y="1783080"/>
            <a:ext cx="219456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 dirty="0">
                <a:solidFill>
                  <a:srgbClr val="0B6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 </a:t>
            </a:r>
            <a:r>
              <a:rPr sz="1200" b="0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686800" y="2377440"/>
            <a:ext cx="2834640" cy="54864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9326880" y="2514600"/>
            <a:ext cx="219456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 dirty="0">
                <a:solidFill>
                  <a:srgbClr val="D86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1.9  </a:t>
            </a:r>
            <a:r>
              <a:rPr sz="1200" b="0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 difficulty (/5)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65760" y="3907860"/>
            <a:ext cx="5486400" cy="21214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365760" y="3907860"/>
            <a:ext cx="5486400" cy="365760"/>
          </a:xfrm>
          <a:prstGeom prst="roundRect">
            <a:avLst/>
          </a:prstGeom>
          <a:solidFill>
            <a:srgbClr val="5E1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365760" y="3953580"/>
            <a:ext cx="548640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SYSTEM USABILITY SCALE (BROOKE, 1996)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5760" y="431934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i="0" dirty="0">
                <a:solidFill>
                  <a:srgbClr val="5E1F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87.5 (SD 5.27)  •  Grade 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0080" y="4730820"/>
            <a:ext cx="246888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640080" y="4776540"/>
            <a:ext cx="2468880" cy="4616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Poor
0-50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108960" y="4730820"/>
            <a:ext cx="987552" cy="457200"/>
          </a:xfrm>
          <a:prstGeom prst="rect">
            <a:avLst/>
          </a:prstGeom>
          <a:solidFill>
            <a:srgbClr val="FFE082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3108960" y="4776540"/>
            <a:ext cx="987552" cy="4616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
50-70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096512" y="4730820"/>
            <a:ext cx="740664" cy="457200"/>
          </a:xfrm>
          <a:prstGeom prst="rect">
            <a:avLst/>
          </a:prstGeom>
          <a:solidFill>
            <a:srgbClr val="C8E6C9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4096512" y="4776540"/>
            <a:ext cx="740664" cy="4616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lang="en-US" sz="1200" b="1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Good </a:t>
            </a:r>
          </a:p>
          <a:p>
            <a:pPr algn="ctr"/>
            <a:r>
              <a:rPr sz="1200" b="1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70-8</a:t>
            </a:r>
            <a:r>
              <a:rPr lang="en-US" sz="1200" b="1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sz="1200" b="1" i="0" dirty="0">
              <a:solidFill>
                <a:srgbClr val="1E1E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4837176" y="4730820"/>
            <a:ext cx="740664" cy="457200"/>
          </a:xfrm>
          <a:prstGeom prst="rect">
            <a:avLst/>
          </a:prstGeom>
          <a:solidFill>
            <a:srgbClr val="A5D6A7"/>
          </a:solidFill>
          <a:ln w="127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4903278" y="4776540"/>
            <a:ext cx="740664" cy="4616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Excellent</a:t>
            </a:r>
            <a:r>
              <a:rPr sz="1200" b="1" i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8</a:t>
            </a:r>
            <a:r>
              <a:rPr lang="en-US" sz="1200" b="1" i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sz="1200" b="1" i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-100</a:t>
            </a:r>
            <a:endParaRPr sz="1200" b="1" i="0" dirty="0">
              <a:solidFill>
                <a:srgbClr val="1E1E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7" name="Connector 86"/>
          <p:cNvCxnSpPr/>
          <p:nvPr/>
        </p:nvCxnSpPr>
        <p:spPr>
          <a:xfrm>
            <a:off x="640080" y="5325180"/>
            <a:ext cx="4937760" cy="0"/>
          </a:xfrm>
          <a:prstGeom prst="line">
            <a:avLst/>
          </a:prstGeom>
          <a:ln w="1270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640080" y="5325180"/>
            <a:ext cx="0" cy="73152"/>
          </a:xfrm>
          <a:prstGeom prst="line">
            <a:avLst/>
          </a:prstGeom>
          <a:ln w="1270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457200" y="5398332"/>
            <a:ext cx="36576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sz="800" b="0" i="0" dirty="0">
              <a:solidFill>
                <a:srgbClr val="1E1E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0" name="Connector 89"/>
          <p:cNvCxnSpPr/>
          <p:nvPr/>
        </p:nvCxnSpPr>
        <p:spPr>
          <a:xfrm>
            <a:off x="1627632" y="5325180"/>
            <a:ext cx="0" cy="73152"/>
          </a:xfrm>
          <a:prstGeom prst="line">
            <a:avLst/>
          </a:prstGeom>
          <a:ln w="1270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1444752" y="5398332"/>
            <a:ext cx="36576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2615184" y="5325180"/>
            <a:ext cx="0" cy="73152"/>
          </a:xfrm>
          <a:prstGeom prst="line">
            <a:avLst/>
          </a:prstGeom>
          <a:ln w="1270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2432304" y="5398332"/>
            <a:ext cx="36576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endParaRPr sz="800" b="0" i="0" dirty="0">
              <a:solidFill>
                <a:srgbClr val="1E1E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4" name="Connector 93"/>
          <p:cNvCxnSpPr/>
          <p:nvPr/>
        </p:nvCxnSpPr>
        <p:spPr>
          <a:xfrm>
            <a:off x="3602736" y="5325180"/>
            <a:ext cx="0" cy="73152"/>
          </a:xfrm>
          <a:prstGeom prst="line">
            <a:avLst/>
          </a:prstGeom>
          <a:ln w="1270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3419856" y="5398332"/>
            <a:ext cx="36576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endParaRPr sz="800" b="0" i="0" dirty="0">
              <a:solidFill>
                <a:srgbClr val="1E1E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6" name="Connector 95"/>
          <p:cNvCxnSpPr/>
          <p:nvPr/>
        </p:nvCxnSpPr>
        <p:spPr>
          <a:xfrm>
            <a:off x="4590288" y="5325180"/>
            <a:ext cx="0" cy="73152"/>
          </a:xfrm>
          <a:prstGeom prst="line">
            <a:avLst/>
          </a:prstGeom>
          <a:ln w="1270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4407408" y="5398332"/>
            <a:ext cx="36576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endParaRPr sz="800" b="0" i="0" dirty="0">
              <a:solidFill>
                <a:srgbClr val="1E1E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8" name="Connector 97"/>
          <p:cNvCxnSpPr/>
          <p:nvPr/>
        </p:nvCxnSpPr>
        <p:spPr>
          <a:xfrm>
            <a:off x="5577840" y="5325180"/>
            <a:ext cx="0" cy="73152"/>
          </a:xfrm>
          <a:prstGeom prst="line">
            <a:avLst/>
          </a:prstGeom>
          <a:ln w="12700">
            <a:solidFill>
              <a:srgbClr val="1E1E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5394960" y="5398332"/>
            <a:ext cx="36576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sz="800" b="0" i="0" dirty="0">
              <a:solidFill>
                <a:srgbClr val="1E1E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40080" y="5645220"/>
            <a:ext cx="493776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 score (0-100)</a:t>
            </a:r>
          </a:p>
        </p:txBody>
      </p:sp>
      <p:sp>
        <p:nvSpPr>
          <p:cNvPr id="101" name="Oval 100"/>
          <p:cNvSpPr/>
          <p:nvPr/>
        </p:nvSpPr>
        <p:spPr>
          <a:xfrm>
            <a:off x="4887468" y="4639380"/>
            <a:ext cx="146304" cy="146304"/>
          </a:xfrm>
          <a:prstGeom prst="ellipse">
            <a:avLst/>
          </a:prstGeom>
          <a:solidFill>
            <a:srgbClr val="5E1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2" name="Connector 101"/>
          <p:cNvCxnSpPr/>
          <p:nvPr/>
        </p:nvCxnSpPr>
        <p:spPr>
          <a:xfrm>
            <a:off x="4960620" y="4685100"/>
            <a:ext cx="0" cy="502920"/>
          </a:xfrm>
          <a:prstGeom prst="line">
            <a:avLst/>
          </a:prstGeom>
          <a:ln w="19050">
            <a:solidFill>
              <a:srgbClr val="5E1F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4686300" y="4410780"/>
            <a:ext cx="54864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 i="0" dirty="0">
                <a:solidFill>
                  <a:srgbClr val="5E1F8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87.5</a:t>
            </a:r>
            <a:endParaRPr sz="900" b="1" i="0" dirty="0">
              <a:solidFill>
                <a:srgbClr val="5E1F8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Rounded Rectangle 103"/>
          <p:cNvSpPr/>
          <p:nvPr/>
        </p:nvSpPr>
        <p:spPr>
          <a:xfrm>
            <a:off x="6126480" y="3474720"/>
            <a:ext cx="5669280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Rounded Rectangle 104"/>
          <p:cNvSpPr/>
          <p:nvPr/>
        </p:nvSpPr>
        <p:spPr>
          <a:xfrm>
            <a:off x="6126480" y="3474720"/>
            <a:ext cx="5669280" cy="365760"/>
          </a:xfrm>
          <a:prstGeom prst="roundRect">
            <a:avLst/>
          </a:prstGeom>
          <a:solidFill>
            <a:srgbClr val="D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6126480" y="3520440"/>
            <a:ext cx="566928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ACCESSIBILITY QUESTIONNAIRE  ITEM MEANS (1-5)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149840" y="3886200"/>
            <a:ext cx="137160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1" i="0" dirty="0">
                <a:solidFill>
                  <a:srgbClr val="D86B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 4.44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7772400" y="4114800"/>
            <a:ext cx="0" cy="2148840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7635240" y="6263640"/>
            <a:ext cx="274320" cy="2154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00" b="0" i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8467344" y="4114800"/>
            <a:ext cx="0" cy="2148840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8330184" y="6263640"/>
            <a:ext cx="274320" cy="2154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00" b="0" i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9162288" y="4114800"/>
            <a:ext cx="0" cy="2148840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9025128" y="6263640"/>
            <a:ext cx="274320" cy="2154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00" b="0" i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9857231" y="4114800"/>
            <a:ext cx="0" cy="2148840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9720071" y="6263640"/>
            <a:ext cx="274320" cy="2154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00" b="0" i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10552176" y="4114800"/>
            <a:ext cx="0" cy="2148840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10415016" y="6263640"/>
            <a:ext cx="274320" cy="2154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00" b="0" i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118" name="Connector 117"/>
          <p:cNvCxnSpPr/>
          <p:nvPr/>
        </p:nvCxnSpPr>
        <p:spPr>
          <a:xfrm>
            <a:off x="11247120" y="4114800"/>
            <a:ext cx="0" cy="2148840"/>
          </a:xfrm>
          <a:prstGeom prst="line">
            <a:avLst/>
          </a:prstGeom>
          <a:ln w="12700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11109960" y="6263640"/>
            <a:ext cx="274320" cy="2154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00" b="0" i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217920" y="4031096"/>
            <a:ext cx="146304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0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 Navigation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772400" y="4114800"/>
            <a:ext cx="3405225" cy="164592"/>
          </a:xfrm>
          <a:prstGeom prst="rect">
            <a:avLst/>
          </a:prstGeom>
          <a:solidFill>
            <a:srgbClr val="D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6217920" y="4250552"/>
            <a:ext cx="146304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0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Q2 Instructions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772400" y="4334256"/>
            <a:ext cx="3057753" cy="164592"/>
          </a:xfrm>
          <a:prstGeom prst="rect">
            <a:avLst/>
          </a:prstGeom>
          <a:solidFill>
            <a:srgbClr val="D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6217920" y="4484076"/>
            <a:ext cx="146304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0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Q3 Keyboard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772400" y="4553712"/>
            <a:ext cx="2988259" cy="164592"/>
          </a:xfrm>
          <a:prstGeom prst="rect">
            <a:avLst/>
          </a:prstGeom>
          <a:solidFill>
            <a:srgbClr val="D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6217920" y="4703532"/>
            <a:ext cx="146304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0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Q4 Contrast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7772400" y="4773168"/>
            <a:ext cx="3405225" cy="164592"/>
          </a:xfrm>
          <a:prstGeom prst="rect">
            <a:avLst/>
          </a:prstGeom>
          <a:solidFill>
            <a:srgbClr val="D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6217920" y="4922988"/>
            <a:ext cx="146304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0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Q5 Error </a:t>
            </a:r>
            <a:r>
              <a:rPr sz="1200" b="0" i="0" dirty="0" err="1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msgs</a:t>
            </a:r>
            <a:endParaRPr sz="1200" b="0" i="0" dirty="0">
              <a:solidFill>
                <a:srgbClr val="1E1E1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Rectangle 128"/>
          <p:cNvSpPr/>
          <p:nvPr/>
        </p:nvSpPr>
        <p:spPr>
          <a:xfrm>
            <a:off x="7772400" y="4992624"/>
            <a:ext cx="2918764" cy="164592"/>
          </a:xfrm>
          <a:prstGeom prst="rect">
            <a:avLst/>
          </a:prstGeom>
          <a:solidFill>
            <a:srgbClr val="D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6217920" y="5142444"/>
            <a:ext cx="146304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0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Q6 In control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7772400" y="5212080"/>
            <a:ext cx="3057753" cy="164592"/>
          </a:xfrm>
          <a:prstGeom prst="rect">
            <a:avLst/>
          </a:prstGeom>
          <a:solidFill>
            <a:srgbClr val="D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6217920" y="5361900"/>
            <a:ext cx="146304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0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Q7 Independence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772400" y="5431536"/>
            <a:ext cx="2849270" cy="164592"/>
          </a:xfrm>
          <a:prstGeom prst="rect">
            <a:avLst/>
          </a:prstGeom>
          <a:solidFill>
            <a:srgbClr val="D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6217920" y="5581356"/>
            <a:ext cx="146304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0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Q8 Forgiving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772400" y="5650992"/>
            <a:ext cx="3266236" cy="164592"/>
          </a:xfrm>
          <a:prstGeom prst="rect">
            <a:avLst/>
          </a:prstGeom>
          <a:solidFill>
            <a:srgbClr val="D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6217920" y="5800812"/>
            <a:ext cx="146304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0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Q9 Comprehension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772400" y="5870448"/>
            <a:ext cx="2779776" cy="164592"/>
          </a:xfrm>
          <a:prstGeom prst="rect">
            <a:avLst/>
          </a:prstGeom>
          <a:solidFill>
            <a:srgbClr val="D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6217920" y="6027302"/>
            <a:ext cx="146304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200" b="0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Q10 Responsive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772400" y="6089904"/>
            <a:ext cx="2988259" cy="164592"/>
          </a:xfrm>
          <a:prstGeom prst="rect">
            <a:avLst/>
          </a:prstGeom>
          <a:solidFill>
            <a:srgbClr val="D8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7772400" y="6446520"/>
            <a:ext cx="3474720" cy="2769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 i="0" dirty="0">
                <a:solidFill>
                  <a:srgbClr val="1E1E1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 rating (1-5)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185</Words>
  <Application>Microsoft Office PowerPoint</Application>
  <PresentationFormat>Widescreen</PresentationFormat>
  <Paragraphs>71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Expert evaluation of BCHAIN-ACCESS (corrected)</dc:title>
  <dc:subject>PptxGenJS Presentation</dc:subject>
  <dc:creator>PptxGenJS</dc:creator>
  <cp:lastModifiedBy>user</cp:lastModifiedBy>
  <cp:revision>8</cp:revision>
  <dcterms:created xsi:type="dcterms:W3CDTF">2026-07-09T09:22:12Z</dcterms:created>
  <dcterms:modified xsi:type="dcterms:W3CDTF">2026-07-13T14:22:50Z</dcterms:modified>
</cp:coreProperties>
</file>