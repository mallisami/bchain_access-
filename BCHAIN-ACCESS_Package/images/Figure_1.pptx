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762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1" d="100"/>
          <a:sy n="61" d="100"/>
        </p:scale>
        <p:origin x="1074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28594" y="114297"/>
            <a:ext cx="1706837" cy="761980"/>
          </a:xfrm>
          <a:prstGeom prst="roundRect">
            <a:avLst>
              <a:gd name="adj" fmla="val 10000"/>
            </a:avLst>
          </a:prstGeom>
          <a:solidFill>
            <a:srgbClr val="0042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48821" y="87753"/>
            <a:ext cx="289552" cy="28955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E4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4A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999" y="402517"/>
            <a:ext cx="1805588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 AND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594" y="952475"/>
            <a:ext cx="1706837" cy="383356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42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591" y="1066773"/>
            <a:ext cx="1722076" cy="348159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accessibility barriers in blockchain healthcare interfaces for people with disabilities (</a:t>
            </a:r>
            <a:r>
              <a:rPr sz="1200" b="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PwDs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blockchain healthcare, HCI, accessibility and assistive technology literature.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the research gap, objectives and research questions (RQ1–RQ</a:t>
            </a:r>
            <a:r>
              <a:rPr lang="en-US"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64025" y="114297"/>
            <a:ext cx="1706837" cy="761980"/>
          </a:xfrm>
          <a:prstGeom prst="roundRect">
            <a:avLst>
              <a:gd name="adj" fmla="val 10000"/>
            </a:avLst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/>
          <p:cNvSpPr/>
          <p:nvPr/>
        </p:nvSpPr>
        <p:spPr>
          <a:xfrm>
            <a:off x="2168487" y="103519"/>
            <a:ext cx="289552" cy="28955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 dirty="0">
                <a:solidFill>
                  <a:srgbClr val="2E7D4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354" y="402515"/>
            <a:ext cx="1623546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A SOLUTION (DESIGN)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4025" y="939775"/>
            <a:ext cx="1706837" cy="38302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B6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85942" y="1066773"/>
            <a:ext cx="1478243" cy="375859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Derive accessibility requirements and HCI design principles (AAD, PTD, CID and UAC).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the BCHAIN-ACCESS framework with four integrated perspectives.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the system architecture and design specifications.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99457" y="114297"/>
            <a:ext cx="1706837" cy="761980"/>
          </a:xfrm>
          <a:prstGeom prst="roundRect">
            <a:avLst>
              <a:gd name="adj" fmla="val 10000"/>
            </a:avLst>
          </a:prstGeom>
          <a:solidFill>
            <a:srgbClr val="5E1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103919" y="103519"/>
            <a:ext cx="289552" cy="28955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 dirty="0">
                <a:solidFill>
                  <a:srgbClr val="6A2C9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5677" y="402516"/>
            <a:ext cx="1612518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AND DEVELOPMENT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9457" y="965174"/>
            <a:ext cx="1706837" cy="382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5E1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21374" y="1066773"/>
            <a:ext cx="1546821" cy="26505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the BCHAIN-ACCESS reference prototype.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the four-layer system architecture.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accessibility features and inclusive user interfaces.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4889" y="114297"/>
            <a:ext cx="1706837" cy="761980"/>
          </a:xfrm>
          <a:prstGeom prst="roundRect">
            <a:avLst>
              <a:gd name="adj" fmla="val 10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055116" y="103519"/>
            <a:ext cx="289552" cy="28955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 dirty="0">
                <a:solidFill>
                  <a:srgbClr val="1F7A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3216" y="510614"/>
            <a:ext cx="1496642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DEMONSTRATION</a:t>
            </a:r>
            <a:endParaRPr sz="1600" b="1" i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034889" y="965176"/>
            <a:ext cx="1706837" cy="37743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52484" y="977074"/>
            <a:ext cx="1668737" cy="375859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automated accessibility evaluation using Lighthouse, WAVE, and Axe </a:t>
            </a:r>
            <a:r>
              <a:rPr sz="1200" b="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DevTools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Conduct expert</a:t>
            </a:r>
            <a:r>
              <a:rPr lang="en-US"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using heuristic evaluation, cognitive walkthrough, SUS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an accessibility questionnaire (N = 10).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results and validate the proposed framework.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0320" y="114297"/>
            <a:ext cx="1706837" cy="761980"/>
          </a:xfrm>
          <a:prstGeom prst="roundRect">
            <a:avLst>
              <a:gd name="adj" fmla="val 10000"/>
            </a:avLst>
          </a:prstGeom>
          <a:solidFill>
            <a:srgbClr val="D8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022080" y="87753"/>
            <a:ext cx="289552" cy="28955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565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 dirty="0">
                <a:solidFill>
                  <a:srgbClr val="B5651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4417" y="370985"/>
            <a:ext cx="1690565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 AND COMMUNICATION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0320" y="990575"/>
            <a:ext cx="1706837" cy="37743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16039" y="1095211"/>
            <a:ext cx="1554441" cy="32045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the framework's usability, accessibility and technical feasibility.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 findings, limitations and future research directions.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2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Disseminate the framework, reference prototype and design guidelines.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935431" y="2895527"/>
            <a:ext cx="228594" cy="0"/>
          </a:xfrm>
          <a:prstGeom prst="line">
            <a:avLst/>
          </a:prstGeom>
          <a:ln w="27940">
            <a:solidFill>
              <a:srgbClr val="2A2E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70863" y="2895527"/>
            <a:ext cx="228594" cy="0"/>
          </a:xfrm>
          <a:prstGeom prst="line">
            <a:avLst/>
          </a:prstGeom>
          <a:ln w="27940">
            <a:solidFill>
              <a:srgbClr val="2A2E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806294" y="2895527"/>
            <a:ext cx="228595" cy="0"/>
          </a:xfrm>
          <a:prstGeom prst="line">
            <a:avLst/>
          </a:prstGeom>
          <a:ln w="27940">
            <a:solidFill>
              <a:srgbClr val="2A2E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41726" y="2895527"/>
            <a:ext cx="228594" cy="0"/>
          </a:xfrm>
          <a:prstGeom prst="line">
            <a:avLst/>
          </a:prstGeom>
          <a:ln w="27940">
            <a:solidFill>
              <a:srgbClr val="2A2E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677158" y="2895527"/>
            <a:ext cx="266693" cy="0"/>
          </a:xfrm>
          <a:prstGeom prst="line">
            <a:avLst/>
          </a:prstGeom>
          <a:ln w="27940">
            <a:solidFill>
              <a:srgbClr val="2A2E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943851" y="114297"/>
            <a:ext cx="1981150" cy="4419489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 w="20320">
            <a:solidFill>
              <a:srgbClr val="2E5A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943851" y="232091"/>
            <a:ext cx="1981150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E5A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81007" y="838179"/>
            <a:ext cx="1706837" cy="8000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10195305" y="1146781"/>
            <a:ext cx="182875" cy="182875"/>
          </a:xfrm>
          <a:prstGeom prst="ellipse">
            <a:avLst/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16279" y="1035086"/>
            <a:ext cx="1371565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BCHAIN-ACCESS Framework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81007" y="1727156"/>
            <a:ext cx="1706837" cy="8000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10195305" y="2035759"/>
            <a:ext cx="182875" cy="182875"/>
          </a:xfrm>
          <a:prstGeom prst="ellipse">
            <a:avLst/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16279" y="1924063"/>
            <a:ext cx="1371565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(Prototype)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81007" y="2616134"/>
            <a:ext cx="1706837" cy="8000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10195305" y="2924736"/>
            <a:ext cx="182875" cy="182875"/>
          </a:xfrm>
          <a:prstGeom prst="ellipse">
            <a:avLst/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16279" y="2905374"/>
            <a:ext cx="1371565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Expert Validation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81007" y="3505112"/>
            <a:ext cx="1706837" cy="8000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10195305" y="3813714"/>
            <a:ext cx="182875" cy="182875"/>
          </a:xfrm>
          <a:prstGeom prst="ellipse">
            <a:avLst/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16279" y="3702019"/>
            <a:ext cx="1371565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>
                <a:solidFill>
                  <a:srgbClr val="2024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Accessibility Design Guidelines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67013" y="5395623"/>
            <a:ext cx="4495687" cy="72388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67013" y="5510831"/>
            <a:ext cx="4495687" cy="4934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Iterative Feedback Loop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(Refinement based on evaluation results and expert feedback)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82012" y="5113690"/>
            <a:ext cx="7741727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714857" y="5113690"/>
            <a:ext cx="0" cy="281933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82012" y="4786038"/>
            <a:ext cx="0" cy="327652"/>
          </a:xfrm>
          <a:prstGeom prst="line">
            <a:avLst/>
          </a:prstGeom>
          <a:ln w="28575">
            <a:solidFill>
              <a:schemeClr val="tx1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17444" y="4786038"/>
            <a:ext cx="0" cy="327652"/>
          </a:xfrm>
          <a:prstGeom prst="line">
            <a:avLst/>
          </a:prstGeom>
          <a:ln w="28575">
            <a:solidFill>
              <a:schemeClr val="tx1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952876" y="4786038"/>
            <a:ext cx="0" cy="327652"/>
          </a:xfrm>
          <a:prstGeom prst="line">
            <a:avLst/>
          </a:prstGeom>
          <a:ln w="28575">
            <a:solidFill>
              <a:schemeClr val="tx1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888307" y="4786038"/>
            <a:ext cx="0" cy="327652"/>
          </a:xfrm>
          <a:prstGeom prst="line">
            <a:avLst/>
          </a:prstGeom>
          <a:ln w="28575">
            <a:solidFill>
              <a:schemeClr val="tx1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8823739" y="4786038"/>
            <a:ext cx="0" cy="327652"/>
          </a:xfrm>
          <a:prstGeom prst="line">
            <a:avLst/>
          </a:prstGeom>
          <a:ln w="28575">
            <a:solidFill>
              <a:schemeClr val="tx1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228594" y="6271101"/>
            <a:ext cx="11696407" cy="108201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42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28594" y="6286580"/>
            <a:ext cx="11696407" cy="369332"/>
          </a:xfrm>
          <a:prstGeom prst="rect">
            <a:avLst/>
          </a:prstGeom>
          <a:solidFill>
            <a:srgbClr val="0042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KNOWLEDGE BASE</a:t>
            </a:r>
          </a:p>
        </p:txBody>
      </p:sp>
      <p:pic>
        <p:nvPicPr>
          <p:cNvPr id="57" name="Picture 56" descr="kb_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19" y="6621616"/>
            <a:ext cx="320031" cy="32003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304792" y="6833464"/>
            <a:ext cx="2186885" cy="4678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Blockchain Healthcare Literature</a:t>
            </a:r>
          </a:p>
        </p:txBody>
      </p:sp>
      <p:pic>
        <p:nvPicPr>
          <p:cNvPr id="59" name="Picture 58" descr="kb_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8100" y="6634316"/>
            <a:ext cx="320031" cy="32003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2390073" y="6833463"/>
            <a:ext cx="2186885" cy="4678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HCI, UI/UX and Accessibility Literature</a:t>
            </a:r>
          </a:p>
        </p:txBody>
      </p:sp>
      <p:pic>
        <p:nvPicPr>
          <p:cNvPr id="61" name="Picture 60" descr="kb_acc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682" y="6659716"/>
            <a:ext cx="320031" cy="32003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4640455" y="6833463"/>
            <a:ext cx="2186885" cy="4678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Accessibility &amp; Assistive Tech Literature</a:t>
            </a:r>
          </a:p>
        </p:txBody>
      </p:sp>
      <p:pic>
        <p:nvPicPr>
          <p:cNvPr id="63" name="Picture 62" descr="kb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8863" y="6634316"/>
            <a:ext cx="320031" cy="320031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916236" y="6833463"/>
            <a:ext cx="2186885" cy="4678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Standards and Guidelines (WCAG, GDPR, EN 301)</a:t>
            </a:r>
          </a:p>
        </p:txBody>
      </p:sp>
      <p:pic>
        <p:nvPicPr>
          <p:cNvPr id="65" name="Picture 64" descr="kb_ge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945" y="6621616"/>
            <a:ext cx="320031" cy="32003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189490" y="6833464"/>
            <a:ext cx="2659313" cy="4678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and Platforms (Lighthouse, WAVE, </a:t>
            </a:r>
            <a:r>
              <a:rPr lang="en-US" sz="14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Axe </a:t>
            </a:r>
            <a:r>
              <a:rPr lang="en-US" sz="1400" b="1" dirty="0" err="1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DevTools</a:t>
            </a:r>
            <a:r>
              <a:rPr sz="14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0934426" y="4533786"/>
            <a:ext cx="0" cy="166214"/>
          </a:xfrm>
          <a:prstGeom prst="line">
            <a:avLst/>
          </a:prstGeom>
          <a:ln w="19050">
            <a:solidFill>
              <a:srgbClr val="B5651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943851" y="4700000"/>
            <a:ext cx="1981150" cy="14000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 w="20320">
            <a:solidFill>
              <a:srgbClr val="B565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10003851" y="4770000"/>
            <a:ext cx="260000" cy="26000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565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5651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10000" y="4735000"/>
            <a:ext cx="1560000" cy="530000"/>
          </a:xfrm>
          <a:prstGeom prst="rect">
            <a:avLst/>
          </a:prstGeom>
          <a:noFill/>
        </p:spPr>
        <p:txBody>
          <a:bodyPr wrap="square" lIns="18288" tIns="9144" rIns="18288" bIns="9144" anchor="ctr">
            <a:normAutofit fontScale="97500"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B5651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PwD VALIDATION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(Planned</a:t>
            </a:r>
            <a:r>
              <a:rPr lang="en-US" sz="12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sz="12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0030000" y="5211100"/>
            <a:ext cx="1830000" cy="760000"/>
          </a:xfrm>
          <a:prstGeom prst="rect">
            <a:avLst/>
          </a:prstGeom>
          <a:noFill/>
        </p:spPr>
        <p:txBody>
          <a:bodyPr wrap="square" lIns="18288" tIns="9144" rIns="18288" bIns="9144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sz="11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Empirical validation with PwD participants; pre-specified protocol , execution pending.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289</Words>
  <Application>Microsoft Office PowerPoint</Application>
  <PresentationFormat>Custom</PresentationFormat>
  <Paragraphs>46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user</cp:lastModifiedBy>
  <cp:revision>12</cp:revision>
  <dcterms:created xsi:type="dcterms:W3CDTF">2013-01-27T09:14:16Z</dcterms:created>
  <dcterms:modified xsi:type="dcterms:W3CDTF">2026-07-13T14:04:01Z</dcterms:modified>
  <cp:category/>
</cp:coreProperties>
</file>