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Task success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4A9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EF2F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Success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rating</c:v>
                </c:pt>
              </c:strCache>
            </c:strRef>
          </c:tx>
          <c:spPr>
            <a:solidFill>
              <a:srgbClr val="B565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024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Q10 Responsive</c:v>
                  </c:pt>
                  <c:pt idx="1">
                    <c:v>Q9 Understood</c:v>
                  </c:pt>
                  <c:pt idx="2">
                    <c:v>Q8 Forgiving</c:v>
                  </c:pt>
                  <c:pt idx="3">
                    <c:v>Q7 Independent</c:v>
                  </c:pt>
                  <c:pt idx="4">
                    <c:v>Q6 In control</c:v>
                  </c:pt>
                  <c:pt idx="5">
                    <c:v>Q5 Error msgs</c:v>
                  </c:pt>
                  <c:pt idx="6">
                    <c:v>Q4 Contrast</c:v>
                  </c:pt>
                  <c:pt idx="7">
                    <c:v>Q3 Keyboard</c:v>
                  </c:pt>
                  <c:pt idx="8">
                    <c:v>Q2 Labels</c:v>
                  </c:pt>
                  <c:pt idx="9">
                    <c:v>Q1 Navigation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4.4</c:v>
                </c:pt>
                <c:pt idx="1">
                  <c:v>4</c:v>
                </c:pt>
                <c:pt idx="2">
                  <c:v>4.7</c:v>
                </c:pt>
                <c:pt idx="3">
                  <c:v>4.1</c:v>
                </c:pt>
                <c:pt idx="4">
                  <c:v>4.5</c:v>
                </c:pt>
                <c:pt idx="5">
                  <c:v>4.2</c:v>
                </c:pt>
                <c:pt idx="6">
                  <c:v>4.8</c:v>
                </c:pt>
                <c:pt idx="7">
                  <c:v>4.5</c:v>
                </c:pt>
                <c:pt idx="8">
                  <c:v>4.4</c:v>
                </c:pt>
                <c:pt idx="9">
                  <c:v>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2024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A51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5"/>
          <c:min val="0"/>
        </c:scaling>
        <c:delete val="0"/>
        <c:axPos val="b"/>
        <c:majorGridlines>
          <c:spPr>
            <a:ln w="6350" cap="flat">
              <a:solidFill>
                <a:srgbClr val="ECEF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4A515A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4A515A"/>
                    </a:solidFill>
                    <a:latin typeface="Arial"/>
                  </a:rPr>
                  <a:t>Mean rating (1–5)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A51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evaluation of BCHAIN-ACCESS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panel: N = 10 multidisciplinary experts (≥ 5 years) — HCI/UX design, software engineering, healthcare informatics, assistive technology / occupational therapy, and blockchain systems.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0"/>
          </a:xfrm>
          <a:prstGeom prst="line">
            <a:avLst/>
          </a:prstGeom>
          <a:noFill/>
          <a:ln w="12700">
            <a:solidFill>
              <a:srgbClr val="D5DA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5532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5DA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234440"/>
            <a:ext cx="5532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5DA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3977640"/>
            <a:ext cx="5532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5DA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3977640"/>
            <a:ext cx="5532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5DA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99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Heuristic evaluation — per-heuristic severity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1709928"/>
            <a:ext cx="365760" cy="0"/>
          </a:xfrm>
          <a:prstGeom prst="line">
            <a:avLst/>
          </a:prstGeom>
          <a:noFill/>
          <a:ln w="38100">
            <a:solidFill>
              <a:srgbClr val="2E7D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013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Per-heuristic mean severity — finer-grained re-rating (0–4 scale)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06424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642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6424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18488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184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618488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130552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055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30552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642616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4261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42616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154680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546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154680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H6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66744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6674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66744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H7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78808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7880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178808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90872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A9CE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9087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690872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H9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202936" y="210312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5A9E5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29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202936" y="2578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48640" y="28620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0.30 (coarse 0.10)  ·  max = 1.0 (H9)  ·  6 of 10 heuristics non-zero  ·  N = 10 experts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081528"/>
            <a:ext cx="5166360" cy="0"/>
          </a:xfrm>
          <a:prstGeom prst="line">
            <a:avLst/>
          </a:prstGeom>
          <a:noFill/>
          <a:ln w="12700">
            <a:solidFill>
              <a:srgbClr val="ECEF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31546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Findings: 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" y="33558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finer-grained re-rating surfaces minor friction (countdown adjustability, H3/H7) noted by E7, E9; no serious or catastrophic issues.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364845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2E7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</a:t>
            </a:r>
            <a:pPr indent="0" marL="0">
              <a:buNone/>
            </a:pPr>
            <a:r>
              <a:rPr lang="en-US" sz="107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severity 0.30 — below the 0.5 compliance gate (0.10 on the coarse scale).</a:t>
            </a:r>
            <a:endParaRPr lang="en-US" sz="1070" dirty="0"/>
          </a:p>
        </p:txBody>
      </p:sp>
      <p:sp>
        <p:nvSpPr>
          <p:cNvPr id="47" name="Text 45"/>
          <p:cNvSpPr/>
          <p:nvPr/>
        </p:nvSpPr>
        <p:spPr>
          <a:xfrm>
            <a:off x="6446520" y="1399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Cognitive walkthrough — task-based evaluation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446520" y="1709928"/>
            <a:ext cx="365760" cy="0"/>
          </a:xfrm>
          <a:prstGeom prst="line">
            <a:avLst/>
          </a:prstGeom>
          <a:noFill/>
          <a:ln w="38100">
            <a:solidFill>
              <a:srgbClr val="2E4A9E"/>
            </a:solidFill>
            <a:prstDash val="solid"/>
          </a:ln>
        </p:spPr>
      </p:sp>
      <p:graphicFrame>
        <p:nvGraphicFramePr>
          <p:cNvPr id="49" name="Chart 0" descr=""/>
          <p:cNvGraphicFramePr/>
          <p:nvPr/>
        </p:nvGraphicFramePr>
        <p:xfrm>
          <a:off x="6446520" y="1737360"/>
          <a:ext cx="1554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0" name="Text 47"/>
          <p:cNvSpPr/>
          <p:nvPr/>
        </p:nvSpPr>
        <p:spPr>
          <a:xfrm>
            <a:off x="644652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82296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</a:t>
            </a:r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completed</a:t>
            </a:r>
            <a:endParaRPr lang="en-US" sz="1700" dirty="0"/>
          </a:p>
        </p:txBody>
      </p:sp>
      <p:sp>
        <p:nvSpPr>
          <p:cNvPr id="52" name="Text 49"/>
          <p:cNvSpPr/>
          <p:nvPr/>
        </p:nvSpPr>
        <p:spPr>
          <a:xfrm>
            <a:off x="8229600" y="2130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 </a:t>
            </a:r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700" dirty="0"/>
          </a:p>
        </p:txBody>
      </p:sp>
      <p:sp>
        <p:nvSpPr>
          <p:cNvPr id="53" name="Text 50"/>
          <p:cNvSpPr/>
          <p:nvPr/>
        </p:nvSpPr>
        <p:spPr>
          <a:xfrm>
            <a:off x="8229600" y="24780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 </a:t>
            </a:r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difficulty (/5)</a:t>
            </a:r>
            <a:endParaRPr lang="en-US" sz="1700" dirty="0"/>
          </a:p>
        </p:txBody>
      </p:sp>
      <p:sp>
        <p:nvSpPr>
          <p:cNvPr id="54" name="Text 51"/>
          <p:cNvSpPr/>
          <p:nvPr/>
        </p:nvSpPr>
        <p:spPr>
          <a:xfrm>
            <a:off x="6446520" y="2926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(T1–T8): Unlock · View Record · Check Access · Grant Access · Review · Confirm · Revoke · FAQ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446520" y="3081528"/>
            <a:ext cx="5166360" cy="0"/>
          </a:xfrm>
          <a:prstGeom prst="line">
            <a:avLst/>
          </a:prstGeom>
          <a:noFill/>
          <a:ln w="12700">
            <a:solidFill>
              <a:srgbClr val="ECEFF2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446520" y="31546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Findings: 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6446520" y="33558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8 tasks completed without assistance; fixed countdown flagged for adjustability (E7, E9).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6446520" y="364845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2E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</a:t>
            </a:r>
            <a:pPr indent="0" marL="0">
              <a:buNone/>
            </a:pPr>
            <a:r>
              <a:rPr lang="en-US" sz="107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task success (80 / 80).</a:t>
            </a:r>
            <a:endParaRPr lang="en-US" sz="1070" dirty="0"/>
          </a:p>
        </p:txBody>
      </p:sp>
      <p:sp>
        <p:nvSpPr>
          <p:cNvPr id="59" name="Text 56"/>
          <p:cNvSpPr/>
          <p:nvPr/>
        </p:nvSpPr>
        <p:spPr>
          <a:xfrm>
            <a:off x="548640" y="4142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2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System Usability Scale (Brooke, 1996)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548640" y="4453128"/>
            <a:ext cx="365760" cy="0"/>
          </a:xfrm>
          <a:prstGeom prst="line">
            <a:avLst/>
          </a:prstGeom>
          <a:noFill/>
          <a:ln w="38100">
            <a:solidFill>
              <a:srgbClr val="6A2C9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85800" y="4754880"/>
            <a:ext cx="3326587" cy="292608"/>
          </a:xfrm>
          <a:prstGeom prst="rect">
            <a:avLst/>
          </a:prstGeom>
          <a:solidFill>
            <a:srgbClr val="FBE4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012387" y="4754880"/>
            <a:ext cx="601721" cy="292608"/>
          </a:xfrm>
          <a:prstGeom prst="rect">
            <a:avLst/>
          </a:prstGeom>
          <a:solidFill>
            <a:srgbClr val="FDF3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614108" y="4754880"/>
            <a:ext cx="963732" cy="292608"/>
          </a:xfrm>
          <a:prstGeom prst="rect">
            <a:avLst/>
          </a:prstGeom>
          <a:solidFill>
            <a:srgbClr val="E3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85800" y="43891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2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87.5  (SD 5.27)  ·  Grade A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4720265" y="4901184"/>
            <a:ext cx="467679" cy="0"/>
          </a:xfrm>
          <a:prstGeom prst="line">
            <a:avLst/>
          </a:prstGeom>
          <a:noFill/>
          <a:ln w="19050">
            <a:solidFill>
              <a:srgbClr val="6A2C9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899241" y="4846320"/>
            <a:ext cx="109728" cy="109728"/>
          </a:xfrm>
          <a:prstGeom prst="ellipse">
            <a:avLst/>
          </a:prstGeom>
          <a:solidFill>
            <a:srgbClr val="6A2C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57200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1435608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2414016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3392424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4370832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5349240" y="5120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685800" y="534009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 score (0–100)</a:t>
            </a:r>
            <a:endParaRPr lang="en-US" sz="950" dirty="0"/>
          </a:p>
        </p:txBody>
      </p:sp>
      <p:sp>
        <p:nvSpPr>
          <p:cNvPr id="74" name="Shape 71"/>
          <p:cNvSpPr/>
          <p:nvPr/>
        </p:nvSpPr>
        <p:spPr>
          <a:xfrm>
            <a:off x="548640" y="5824728"/>
            <a:ext cx="5166360" cy="0"/>
          </a:xfrm>
          <a:prstGeom prst="line">
            <a:avLst/>
          </a:prstGeom>
          <a:noFill/>
          <a:ln w="12700">
            <a:solidFill>
              <a:srgbClr val="ECEFF2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548640" y="58978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A2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Findings: 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48640" y="60990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87.5 exceeds the 80.3 'excellent (A)' threshold — far above the 68 average.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548640" y="639165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6A2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</a:t>
            </a:r>
            <a:pPr indent="0" marL="0">
              <a:buNone/>
            </a:pPr>
            <a:r>
              <a:rPr lang="en-US" sz="107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rated the system as excellent.</a:t>
            </a:r>
            <a:endParaRPr lang="en-US" sz="1070" dirty="0"/>
          </a:p>
        </p:txBody>
      </p:sp>
      <p:sp>
        <p:nvSpPr>
          <p:cNvPr id="78" name="Text 75"/>
          <p:cNvSpPr/>
          <p:nvPr/>
        </p:nvSpPr>
        <p:spPr>
          <a:xfrm>
            <a:off x="6446520" y="4142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Accessibility questionnaire — item means (1–5)</a:t>
            </a:r>
            <a:endParaRPr lang="en-US" sz="1500" dirty="0"/>
          </a:p>
        </p:txBody>
      </p:sp>
      <p:sp>
        <p:nvSpPr>
          <p:cNvPr id="79" name="Shape 76"/>
          <p:cNvSpPr/>
          <p:nvPr/>
        </p:nvSpPr>
        <p:spPr>
          <a:xfrm>
            <a:off x="6446520" y="4453128"/>
            <a:ext cx="365760" cy="0"/>
          </a:xfrm>
          <a:prstGeom prst="line">
            <a:avLst/>
          </a:prstGeom>
          <a:noFill/>
          <a:ln w="38100">
            <a:solidFill>
              <a:srgbClr val="B5651D"/>
            </a:solidFill>
            <a:prstDash val="solid"/>
          </a:ln>
        </p:spPr>
      </p:sp>
      <p:graphicFrame>
        <p:nvGraphicFramePr>
          <p:cNvPr id="80" name="Chart 1" descr=""/>
          <p:cNvGraphicFramePr/>
          <p:nvPr/>
        </p:nvGraphicFramePr>
        <p:xfrm>
          <a:off x="6400800" y="4480560"/>
          <a:ext cx="5257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1" name="Text 77"/>
          <p:cNvSpPr/>
          <p:nvPr/>
        </p:nvSpPr>
        <p:spPr>
          <a:xfrm>
            <a:off x="6400800" y="4361688"/>
            <a:ext cx="5257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A2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4.44</a:t>
            </a:r>
            <a:endParaRPr lang="en-US" sz="950" dirty="0"/>
          </a:p>
        </p:txBody>
      </p:sp>
      <p:sp>
        <p:nvSpPr>
          <p:cNvPr id="82" name="Shape 78"/>
          <p:cNvSpPr/>
          <p:nvPr/>
        </p:nvSpPr>
        <p:spPr>
          <a:xfrm>
            <a:off x="6446520" y="5824728"/>
            <a:ext cx="5166360" cy="0"/>
          </a:xfrm>
          <a:prstGeom prst="line">
            <a:avLst/>
          </a:prstGeom>
          <a:noFill/>
          <a:ln w="12700">
            <a:solidFill>
              <a:srgbClr val="ECEFF2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6446520" y="58978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Findings: </a:t>
            </a:r>
            <a:endParaRPr lang="en-US" sz="1050" dirty="0"/>
          </a:p>
        </p:txBody>
      </p:sp>
      <p:sp>
        <p:nvSpPr>
          <p:cNvPr id="84" name="Text 80"/>
          <p:cNvSpPr/>
          <p:nvPr/>
        </p:nvSpPr>
        <p:spPr>
          <a:xfrm>
            <a:off x="6446520" y="60990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items ≥ 4.0 (high 4.8, low 4.0).</a:t>
            </a:r>
            <a:endParaRPr lang="en-US" sz="1050" dirty="0"/>
          </a:p>
        </p:txBody>
      </p:sp>
      <p:sp>
        <p:nvSpPr>
          <p:cNvPr id="85" name="Text 81"/>
          <p:cNvSpPr/>
          <p:nvPr/>
        </p:nvSpPr>
        <p:spPr>
          <a:xfrm>
            <a:off x="6446520" y="639165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</a:t>
            </a:r>
            <a:pPr indent="0" marL="0">
              <a:buNone/>
            </a:pPr>
            <a:r>
              <a:rPr lang="en-US" sz="1070" dirty="0">
                <a:solidFill>
                  <a:srgbClr val="4A5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accessibility satisfaction — overall 4.44 / 5.</a:t>
            </a:r>
            <a:endParaRPr lang="en-US" sz="1070" dirty="0"/>
          </a:p>
        </p:txBody>
      </p:sp>
      <p:sp>
        <p:nvSpPr>
          <p:cNvPr id="86" name="Shape 82"/>
          <p:cNvSpPr/>
          <p:nvPr/>
        </p:nvSpPr>
        <p:spPr>
          <a:xfrm>
            <a:off x="365760" y="6547104"/>
            <a:ext cx="11430000" cy="0"/>
          </a:xfrm>
          <a:prstGeom prst="line">
            <a:avLst/>
          </a:prstGeom>
          <a:noFill/>
          <a:ln w="12700">
            <a:solidFill>
              <a:srgbClr val="D5DAE0"/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365760" y="6592824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outcome — converging evidence across all four methods indicates BCHAIN-ACCESS is usable, understandable, and accessible, supporting inclusive interaction while maintaining security and compliance.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 evaluation of BCHAIN-ACCESS (corrected)</dc:title>
  <dc:subject>PptxGenJS Presentation</dc:subject>
  <dc:creator>PptxGenJS</dc:creator>
  <cp:lastModifiedBy>PptxGenJS</cp:lastModifiedBy>
  <cp:revision>1</cp:revision>
  <dcterms:created xsi:type="dcterms:W3CDTF">2026-07-09T09:22:12Z</dcterms:created>
  <dcterms:modified xsi:type="dcterms:W3CDTF">2026-07-09T09:22:12Z</dcterms:modified>
</cp:coreProperties>
</file>