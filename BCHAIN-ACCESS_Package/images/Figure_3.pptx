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1116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28925" y="106676"/>
            <a:ext cx="2972488" cy="739347"/>
          </a:xfrm>
          <a:prstGeom prst="roundRect">
            <a:avLst>
              <a:gd name="adj" fmla="val 10000"/>
            </a:avLst>
          </a:prstGeom>
          <a:solidFill>
            <a:srgbClr val="0042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BARRIER DIMENSIONS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25998" y="120680"/>
            <a:ext cx="2864202" cy="717583"/>
          </a:xfrm>
          <a:prstGeom prst="roundRect">
            <a:avLst>
              <a:gd name="adj" fmla="val 10000"/>
            </a:avLst>
          </a:prstGeom>
          <a:solidFill>
            <a:srgbClr val="0042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HCI INTEGRATION PRINCIPLES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52321" y="126721"/>
            <a:ext cx="2575683" cy="703196"/>
          </a:xfrm>
          <a:prstGeom prst="roundRect">
            <a:avLst>
              <a:gd name="adj" fmla="val 10000"/>
            </a:avLst>
          </a:prstGeom>
          <a:solidFill>
            <a:srgbClr val="0042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DESIGN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72695" y="118513"/>
            <a:ext cx="2757625" cy="731586"/>
          </a:xfrm>
          <a:prstGeom prst="roundRect">
            <a:avLst>
              <a:gd name="adj" fmla="val 10000"/>
            </a:avLst>
          </a:prstGeom>
          <a:solidFill>
            <a:srgbClr val="0042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BCHAIN-ACCESS INTEGRATION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99665" y="997911"/>
            <a:ext cx="2698195" cy="1039479"/>
          </a:xfrm>
          <a:prstGeom prst="roundRect">
            <a:avLst>
              <a:gd name="adj" fmla="val 6000"/>
            </a:avLst>
          </a:prstGeom>
          <a:solidFill>
            <a:srgbClr val="DCE7F0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91440" rtlCol="0" anchor="t"/>
          <a:lstStyle/>
          <a:p>
            <a:pPr>
              <a:spcAft>
                <a:spcPts val="200"/>
              </a:spcAft>
            </a:pPr>
            <a:r>
              <a:rPr lang="en-US" sz="14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AAD</a:t>
            </a:r>
            <a:endParaRPr sz="1400" b="1" dirty="0">
              <a:solidFill>
                <a:srgbClr val="004B9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Accessible authentication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99665" y="2166521"/>
            <a:ext cx="2698195" cy="993274"/>
          </a:xfrm>
          <a:prstGeom prst="roundRect">
            <a:avLst>
              <a:gd name="adj" fmla="val 6000"/>
            </a:avLst>
          </a:prstGeom>
          <a:solidFill>
            <a:srgbClr val="D8ECE3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91440" rtlCol="0" anchor="t"/>
          <a:lstStyle/>
          <a:p>
            <a:pPr>
              <a:spcAft>
                <a:spcPts val="200"/>
              </a:spcAft>
            </a:pPr>
            <a:r>
              <a:rPr lang="en-US" sz="1400" b="1" dirty="0">
                <a:solidFill>
                  <a:srgbClr val="0B6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PTD</a:t>
            </a:r>
            <a:endParaRPr sz="1400" b="1" dirty="0">
              <a:solidFill>
                <a:srgbClr val="0B6A3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Transparent user interface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1119" y="3318038"/>
            <a:ext cx="2698195" cy="1014515"/>
          </a:xfrm>
          <a:prstGeom prst="roundRect">
            <a:avLst>
              <a:gd name="adj" fmla="val 6000"/>
            </a:avLst>
          </a:prstGeom>
          <a:solidFill>
            <a:srgbClr val="EDE1CB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91440" rtlCol="0" anchor="t"/>
          <a:lstStyle/>
          <a:p>
            <a:pPr>
              <a:spcAft>
                <a:spcPts val="200"/>
              </a:spcAft>
            </a:pPr>
            <a:r>
              <a:rPr lang="en-US" sz="1400" b="1" dirty="0">
                <a:solidFill>
                  <a:srgbClr val="D86B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CID</a:t>
            </a:r>
            <a:endParaRPr sz="1400" b="1" dirty="0">
              <a:solidFill>
                <a:srgbClr val="D86B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Confirmatory interaction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E8FD251-9B14-A526-CA56-4866E395CF2B}"/>
              </a:ext>
            </a:extLst>
          </p:cNvPr>
          <p:cNvGrpSpPr/>
          <p:nvPr/>
        </p:nvGrpSpPr>
        <p:grpSpPr>
          <a:xfrm>
            <a:off x="84320" y="970983"/>
            <a:ext cx="3030315" cy="4679632"/>
            <a:chOff x="156024" y="767995"/>
            <a:chExt cx="3030315" cy="4508505"/>
          </a:xfrm>
        </p:grpSpPr>
        <p:sp>
          <p:nvSpPr>
            <p:cNvPr id="6" name="Rounded Rectangle 5"/>
            <p:cNvSpPr/>
            <p:nvPr/>
          </p:nvSpPr>
          <p:spPr>
            <a:xfrm>
              <a:off x="156024" y="767995"/>
              <a:ext cx="3030315" cy="1056674"/>
            </a:xfrm>
            <a:prstGeom prst="roundRect">
              <a:avLst>
                <a:gd name="adj" fmla="val 6000"/>
              </a:avLst>
            </a:prstGeom>
            <a:solidFill>
              <a:srgbClr val="EAF0F5"/>
            </a:solidFill>
            <a:ln w="285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91440" rIns="128016" bIns="91440" rtlCol="0" anchor="t"/>
            <a:lstStyle/>
            <a:p>
              <a:pPr algn="l">
                <a:spcBef>
                  <a:spcPts val="0"/>
                </a:spcBef>
                <a:spcAft>
                  <a:spcPts val="200"/>
                </a:spcAft>
              </a:pPr>
              <a:r>
                <a:rPr sz="1400" b="1" dirty="0">
                  <a:solidFill>
                    <a:srgbClr val="004B9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B1–B3</a:t>
              </a:r>
              <a:r>
                <a:rPr lang="en-US" sz="1400" b="1" dirty="0">
                  <a:solidFill>
                    <a:srgbClr val="004B9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400" b="1" dirty="0">
                  <a:solidFill>
                    <a:srgbClr val="004B9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Authentication</a:t>
              </a:r>
              <a:r>
                <a:rPr lang="en-US" sz="1400" b="1" dirty="0">
                  <a:solidFill>
                    <a:srgbClr val="004B9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400" b="1" dirty="0">
                  <a:solidFill>
                    <a:srgbClr val="004B9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Complexity</a:t>
              </a:r>
            </a:p>
            <a:p>
              <a:pPr algn="l">
                <a:spcBef>
                  <a:spcPts val="0"/>
                </a:spcBef>
                <a:spcAft>
                  <a:spcPts val="200"/>
                </a:spcAft>
              </a:pPr>
              <a:r>
                <a:rPr sz="1400" b="0" dirty="0">
                  <a:solidFill>
                    <a:srgbClr val="4A515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Multi-step authentication increases cognitive load and errors.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56024" y="1912140"/>
              <a:ext cx="3017093" cy="975335"/>
            </a:xfrm>
            <a:prstGeom prst="roundRect">
              <a:avLst>
                <a:gd name="adj" fmla="val 6000"/>
              </a:avLst>
            </a:prstGeom>
            <a:solidFill>
              <a:srgbClr val="E9F2EE"/>
            </a:solidFill>
            <a:ln w="285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91440" rIns="128016" bIns="91440" rtlCol="0" anchor="t"/>
            <a:lstStyle/>
            <a:p>
              <a:pPr algn="l">
                <a:spcBef>
                  <a:spcPts val="0"/>
                </a:spcBef>
                <a:spcAft>
                  <a:spcPts val="200"/>
                </a:spcAft>
              </a:pPr>
              <a:r>
                <a:rPr sz="1400" b="1" dirty="0">
                  <a:solidFill>
                    <a:srgbClr val="0B6A3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B4–B6 Interface</a:t>
              </a:r>
              <a:r>
                <a:rPr lang="en-US" sz="1400" b="1" dirty="0">
                  <a:solidFill>
                    <a:srgbClr val="0B6A3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400" b="1" dirty="0">
                  <a:solidFill>
                    <a:srgbClr val="0B6A3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Transparency</a:t>
              </a:r>
            </a:p>
            <a:p>
              <a:pPr algn="l">
                <a:spcBef>
                  <a:spcPts val="0"/>
                </a:spcBef>
                <a:spcAft>
                  <a:spcPts val="200"/>
                </a:spcAft>
              </a:pPr>
              <a:r>
                <a:rPr sz="1400" b="0" dirty="0">
                  <a:solidFill>
                    <a:srgbClr val="4A515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Poor transparency and technical jargon reduce understanding.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56024" y="2977834"/>
              <a:ext cx="3030315" cy="1099861"/>
            </a:xfrm>
            <a:prstGeom prst="roundRect">
              <a:avLst>
                <a:gd name="adj" fmla="val 6000"/>
              </a:avLst>
            </a:prstGeom>
            <a:solidFill>
              <a:srgbClr val="F4EEE2"/>
            </a:solidFill>
            <a:ln w="285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91440" rIns="128016" bIns="91440" rtlCol="0" anchor="t"/>
            <a:lstStyle/>
            <a:p>
              <a:pPr algn="l">
                <a:spcBef>
                  <a:spcPts val="0"/>
                </a:spcBef>
                <a:spcAft>
                  <a:spcPts val="200"/>
                </a:spcAft>
              </a:pPr>
              <a:r>
                <a:rPr sz="1400" b="1" dirty="0">
                  <a:solidFill>
                    <a:srgbClr val="D86B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B7–B9 Feedback Adequacy</a:t>
              </a:r>
            </a:p>
            <a:p>
              <a:pPr algn="l">
                <a:spcBef>
                  <a:spcPts val="0"/>
                </a:spcBef>
                <a:spcAft>
                  <a:spcPts val="200"/>
                </a:spcAft>
              </a:pPr>
              <a:r>
                <a:rPr sz="1400" b="0" dirty="0">
                  <a:solidFill>
                    <a:srgbClr val="4A515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Limited feedback and irreversible actions reduce confidence.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56024" y="4198085"/>
              <a:ext cx="3017093" cy="1078415"/>
            </a:xfrm>
            <a:prstGeom prst="roundRect">
              <a:avLst>
                <a:gd name="adj" fmla="val 6000"/>
              </a:avLst>
            </a:prstGeom>
            <a:solidFill>
              <a:srgbClr val="EFEBF3"/>
            </a:solidFill>
            <a:ln w="285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91440" rIns="128016" bIns="91440" rtlCol="0" anchor="t"/>
            <a:lstStyle/>
            <a:p>
              <a:pPr algn="l">
                <a:spcBef>
                  <a:spcPts val="0"/>
                </a:spcBef>
                <a:spcAft>
                  <a:spcPts val="200"/>
                </a:spcAft>
              </a:pPr>
              <a:r>
                <a:rPr sz="1400" b="1" dirty="0">
                  <a:solidFill>
                    <a:srgbClr val="5E1F8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B10–B12 · Assistive Technology</a:t>
              </a:r>
            </a:p>
            <a:p>
              <a:pPr algn="l">
                <a:spcBef>
                  <a:spcPts val="0"/>
                </a:spcBef>
                <a:spcAft>
                  <a:spcPts val="200"/>
                </a:spcAft>
              </a:pPr>
              <a:r>
                <a:rPr sz="1400" b="0" dirty="0">
                  <a:solidFill>
                    <a:srgbClr val="4A515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Limited assistive-technology support restricts accessibility.</a:t>
              </a:r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3325998" y="970755"/>
            <a:ext cx="2858238" cy="106950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Abstracted Authentication Design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4A515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Simplify secure authentication.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5998" y="2158557"/>
            <a:ext cx="2858238" cy="100123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1400" b="1" dirty="0">
                <a:solidFill>
                  <a:srgbClr val="0B6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>
                <a:solidFill>
                  <a:srgbClr val="0B6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PTD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Progressive Transparency Design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4A515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 information progressively.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17819" y="3248817"/>
            <a:ext cx="2858238" cy="1113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1400" b="1" dirty="0">
                <a:solidFill>
                  <a:srgbClr val="A9772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>
                <a:solidFill>
                  <a:srgbClr val="D86B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Confirmatory Interaction Design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4A515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Prevent errors through clear confirmations.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33585" y="4546635"/>
            <a:ext cx="2858238" cy="1103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5E1F8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UAC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Universal Assistive</a:t>
            </a:r>
            <a:r>
              <a:rPr lang="en-US" sz="1400" b="1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Compatibility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4A515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 assistive technologies and standards.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3026" y="997237"/>
            <a:ext cx="2590735" cy="1040153"/>
          </a:xfrm>
          <a:prstGeom prst="roundRect">
            <a:avLst>
              <a:gd name="adj" fmla="val 6000"/>
            </a:avLst>
          </a:prstGeom>
          <a:solidFill>
            <a:srgbClr val="EAF0F5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marL="171450" indent="-171450" algn="l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Reduce cognitive effort</a:t>
            </a:r>
          </a:p>
          <a:p>
            <a:pPr marL="171450" indent="-171450" algn="l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Inclusive authentication</a:t>
            </a:r>
          </a:p>
          <a:p>
            <a:pPr marL="171450" indent="-171450" algn="l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Adaptive sessions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2321" y="2157113"/>
            <a:ext cx="2590735" cy="993289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marL="285750" indent="-285750" algn="l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 system</a:t>
            </a:r>
            <a:r>
              <a:rPr lang="en-US"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transparency</a:t>
            </a:r>
          </a:p>
          <a:p>
            <a:pPr marL="171450" indent="-171450" algn="l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Reduce cognitive load</a:t>
            </a:r>
          </a:p>
          <a:p>
            <a:pPr marL="171450" indent="-171450" algn="l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Transparent consent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52321" y="3274446"/>
            <a:ext cx="2581440" cy="1088171"/>
          </a:xfrm>
          <a:prstGeom prst="roundRect">
            <a:avLst>
              <a:gd name="adj" fmla="val 6000"/>
            </a:avLst>
          </a:prstGeom>
          <a:solidFill>
            <a:srgbClr val="F4EEE2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marL="171450" indent="-171450" algn="l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Prevent irreversible errors</a:t>
            </a:r>
          </a:p>
          <a:p>
            <a:pPr marL="171450" indent="-171450" algn="l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Improve user control</a:t>
            </a:r>
          </a:p>
          <a:p>
            <a:pPr marL="171450" indent="-171450" algn="l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Clear recovery guidance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23995" y="4531267"/>
            <a:ext cx="2619061" cy="1141357"/>
          </a:xfrm>
          <a:prstGeom prst="roundRect">
            <a:avLst>
              <a:gd name="adj" fmla="val 6000"/>
            </a:avLst>
          </a:prstGeom>
          <a:solidFill>
            <a:srgbClr val="EFEBF3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marL="171450" indent="-171450" algn="l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Universal accessibility</a:t>
            </a:r>
          </a:p>
          <a:p>
            <a:pPr marL="171450" indent="-171450" algn="l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WCAG 2.1 AA compliance</a:t>
            </a:r>
          </a:p>
          <a:p>
            <a:pPr marL="171450" indent="-171450" algn="l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Assistive-technology support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91119" y="4537924"/>
            <a:ext cx="2698195" cy="1141357"/>
          </a:xfrm>
          <a:prstGeom prst="roundRect">
            <a:avLst>
              <a:gd name="adj" fmla="val 6000"/>
            </a:avLst>
          </a:prstGeom>
          <a:solidFill>
            <a:srgbClr val="E4DCEC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91440" rtlCol="0" anchor="t"/>
          <a:lstStyle/>
          <a:p>
            <a:pPr>
              <a:spcAft>
                <a:spcPts val="200"/>
              </a:spcAft>
            </a:pPr>
            <a:r>
              <a:rPr lang="en-US" sz="1400" b="1" dirty="0">
                <a:solidFill>
                  <a:srgbClr val="5E1F8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UAC</a:t>
            </a:r>
            <a:endParaRPr sz="1400" b="1" dirty="0">
              <a:solidFill>
                <a:srgbClr val="5E1F8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Accessible UI &amp; assistive-tech support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907997BC-F7B3-2E8F-EB0D-1E7F9F2FEC50}"/>
              </a:ext>
            </a:extLst>
          </p:cNvPr>
          <p:cNvGrpSpPr/>
          <p:nvPr/>
        </p:nvGrpSpPr>
        <p:grpSpPr>
          <a:xfrm>
            <a:off x="10737712" y="1666368"/>
            <a:ext cx="948444" cy="3883245"/>
            <a:chOff x="10931927" y="1358726"/>
            <a:chExt cx="948444" cy="3883245"/>
          </a:xfrm>
        </p:grpSpPr>
        <p:sp>
          <p:nvSpPr>
            <p:cNvPr id="10" name="Rounded Rectangle 9"/>
            <p:cNvSpPr/>
            <p:nvPr/>
          </p:nvSpPr>
          <p:spPr>
            <a:xfrm>
              <a:off x="10931927" y="1358726"/>
              <a:ext cx="948443" cy="290961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285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0" rIns="18288" bIns="0" rtlCol="0" anchor="ctr"/>
            <a:lstStyle/>
            <a:p>
              <a:pPr algn="ctr">
                <a:spcAft>
                  <a:spcPts val="200"/>
                </a:spcAft>
              </a:pPr>
              <a:r>
                <a:rPr sz="1400" b="1" dirty="0">
                  <a:solidFill>
                    <a:srgbClr val="0B6A3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Layer 2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0931927" y="2513934"/>
              <a:ext cx="948443" cy="27810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285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0" rIns="18288" bIns="0" rtlCol="0" anchor="ctr"/>
            <a:lstStyle/>
            <a:p>
              <a:pPr algn="ctr">
                <a:spcBef>
                  <a:spcPts val="0"/>
                </a:spcBef>
                <a:spcAft>
                  <a:spcPts val="200"/>
                </a:spcAft>
              </a:pPr>
              <a:r>
                <a:rPr sz="1400" b="1" dirty="0">
                  <a:solidFill>
                    <a:srgbClr val="0B6A3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Layer 2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10931927" y="3649220"/>
              <a:ext cx="948443" cy="287317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285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0" rIns="18288" bIns="0" rtlCol="0" anchor="ctr"/>
            <a:lstStyle/>
            <a:p>
              <a:pPr algn="ctr">
                <a:spcBef>
                  <a:spcPts val="0"/>
                </a:spcBef>
                <a:spcAft>
                  <a:spcPts val="200"/>
                </a:spcAft>
              </a:pPr>
              <a:r>
                <a:rPr sz="1400" b="1" dirty="0">
                  <a:solidFill>
                    <a:srgbClr val="D86B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Layer</a:t>
              </a:r>
              <a:r>
                <a:rPr sz="1600" b="1" dirty="0">
                  <a:solidFill>
                    <a:srgbClr val="A9772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400" b="1" dirty="0">
                  <a:solidFill>
                    <a:srgbClr val="D86B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US" sz="1600" b="1" dirty="0">
                  <a:solidFill>
                    <a:srgbClr val="A9772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sz="1400" b="1" dirty="0">
                  <a:solidFill>
                    <a:srgbClr val="D86B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10931927" y="4939016"/>
              <a:ext cx="948444" cy="30295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285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0" rIns="18288" bIns="0" rtlCol="0" anchor="ctr"/>
            <a:lstStyle/>
            <a:p>
              <a:pPr algn="ctr">
                <a:spcBef>
                  <a:spcPts val="0"/>
                </a:spcBef>
                <a:spcAft>
                  <a:spcPts val="200"/>
                </a:spcAft>
              </a:pPr>
              <a:r>
                <a:rPr sz="1400" b="1" dirty="0">
                  <a:solidFill>
                    <a:srgbClr val="5E1F8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Layer 1</a:t>
              </a:r>
              <a:r>
                <a:rPr lang="en-US" sz="1400" b="1" dirty="0">
                  <a:solidFill>
                    <a:srgbClr val="5E1F8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-2</a:t>
              </a:r>
              <a:endParaRPr sz="1400" b="1" dirty="0">
                <a:solidFill>
                  <a:srgbClr val="5E1F8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2" name="Right Arrow 11"/>
          <p:cNvSpPr/>
          <p:nvPr/>
        </p:nvSpPr>
        <p:spPr>
          <a:xfrm>
            <a:off x="6211912" y="1458805"/>
            <a:ext cx="204770" cy="121916"/>
          </a:xfrm>
          <a:prstGeom prst="rightArrow">
            <a:avLst>
              <a:gd name="adj1" fmla="val 55000"/>
              <a:gd name="adj2" fmla="val 5500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ight Arrow 19"/>
          <p:cNvSpPr/>
          <p:nvPr/>
        </p:nvSpPr>
        <p:spPr>
          <a:xfrm>
            <a:off x="6220458" y="2601776"/>
            <a:ext cx="204770" cy="121916"/>
          </a:xfrm>
          <a:prstGeom prst="rightArrow">
            <a:avLst>
              <a:gd name="adj1" fmla="val 55000"/>
              <a:gd name="adj2" fmla="val 5500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Right Arrow 35"/>
          <p:cNvSpPr/>
          <p:nvPr/>
        </p:nvSpPr>
        <p:spPr>
          <a:xfrm>
            <a:off x="6211912" y="5024455"/>
            <a:ext cx="204770" cy="121916"/>
          </a:xfrm>
          <a:prstGeom prst="rightArrow">
            <a:avLst>
              <a:gd name="adj1" fmla="val 55000"/>
              <a:gd name="adj2" fmla="val 5500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165964" y="5801081"/>
            <a:ext cx="11734506" cy="655303"/>
          </a:xfrm>
          <a:prstGeom prst="roundRect">
            <a:avLst>
              <a:gd name="adj" fmla="val 6000"/>
            </a:avLst>
          </a:prstGeom>
          <a:solidFill>
            <a:srgbClr val="F1F3F5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Legal </a:t>
            </a:r>
            <a:r>
              <a:rPr lang="en-US" sz="16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16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Privacy cross-cutting (Governance, P3)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Complex consent and privacy requirements reduce trust; addressed across all layers through transparent consent and standards compliance.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2533" y="6666372"/>
            <a:ext cx="11734506" cy="2831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6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FOUNDATIONS</a:t>
            </a:r>
            <a:r>
              <a:rPr sz="1400" b="1" dirty="0">
                <a:solidFill>
                  <a:srgbClr val="8A73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16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1400" b="1" dirty="0">
                <a:solidFill>
                  <a:srgbClr val="8A73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16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STANDARDS</a:t>
            </a:r>
            <a:r>
              <a:rPr sz="1400" b="1" dirty="0">
                <a:solidFill>
                  <a:srgbClr val="8A73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16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GUIDING</a:t>
            </a:r>
            <a:r>
              <a:rPr sz="1400" b="1" dirty="0">
                <a:solidFill>
                  <a:srgbClr val="8A73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16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1400" b="1" dirty="0">
                <a:solidFill>
                  <a:srgbClr val="8A73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16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MAPPING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127" y="7048210"/>
            <a:ext cx="2486300" cy="531777"/>
          </a:xfrm>
          <a:prstGeom prst="flowChartAlternateProcess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HCI Literature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Usability 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·</a:t>
            </a:r>
            <a:r>
              <a:rPr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Accessibility 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·</a:t>
            </a:r>
            <a:r>
              <a:rPr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UI/UX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91537" y="7062594"/>
            <a:ext cx="2346901" cy="531777"/>
          </a:xfrm>
          <a:prstGeom prst="flowChartAlternateProcess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Accessibility Standards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WCAG 2.1 AA 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·</a:t>
            </a:r>
            <a:r>
              <a:rPr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 301 549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2607" y="7056747"/>
            <a:ext cx="2346901" cy="531777"/>
          </a:xfrm>
          <a:prstGeom prst="flowChartAlternateProcess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Frameworks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GDPR 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·</a:t>
            </a:r>
            <a:r>
              <a:rPr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HIPAA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8861" y="7056747"/>
            <a:ext cx="2346901" cy="531777"/>
          </a:xfrm>
          <a:prstGeom prst="flowChartAlternateProcess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Usability Heuristics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Nielsen’s 10 Heuristics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7199" y="7035493"/>
            <a:ext cx="2183122" cy="531777"/>
          </a:xfrm>
          <a:prstGeom prst="flowChartAlternateProcess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PwD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Centered Design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Needs 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·</a:t>
            </a:r>
            <a:r>
              <a:rPr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Context · Inclusion</a:t>
            </a:r>
          </a:p>
        </p:txBody>
      </p:sp>
      <p:sp>
        <p:nvSpPr>
          <p:cNvPr id="56" name="Right Arrow 11">
            <a:extLst>
              <a:ext uri="{FF2B5EF4-FFF2-40B4-BE49-F238E27FC236}">
                <a16:creationId xmlns:a16="http://schemas.microsoft.com/office/drawing/2014/main" id="{11CC4910-8C48-ABFB-A058-BAA5AB69DD38}"/>
              </a:ext>
            </a:extLst>
          </p:cNvPr>
          <p:cNvSpPr/>
          <p:nvPr/>
        </p:nvSpPr>
        <p:spPr>
          <a:xfrm>
            <a:off x="3113720" y="1435329"/>
            <a:ext cx="184225" cy="121916"/>
          </a:xfrm>
          <a:prstGeom prst="rightArrow">
            <a:avLst>
              <a:gd name="adj1" fmla="val 55000"/>
              <a:gd name="adj2" fmla="val 5500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Right Arrow 19">
            <a:extLst>
              <a:ext uri="{FF2B5EF4-FFF2-40B4-BE49-F238E27FC236}">
                <a16:creationId xmlns:a16="http://schemas.microsoft.com/office/drawing/2014/main" id="{FB53FE3C-BD1B-8CAD-3E52-743617771F29}"/>
              </a:ext>
            </a:extLst>
          </p:cNvPr>
          <p:cNvSpPr/>
          <p:nvPr/>
        </p:nvSpPr>
        <p:spPr>
          <a:xfrm>
            <a:off x="3113720" y="2609036"/>
            <a:ext cx="184225" cy="121916"/>
          </a:xfrm>
          <a:prstGeom prst="rightArrow">
            <a:avLst>
              <a:gd name="adj1" fmla="val 55000"/>
              <a:gd name="adj2" fmla="val 5500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Right Arrow 27">
            <a:extLst>
              <a:ext uri="{FF2B5EF4-FFF2-40B4-BE49-F238E27FC236}">
                <a16:creationId xmlns:a16="http://schemas.microsoft.com/office/drawing/2014/main" id="{25949C95-ACB6-F391-F53F-D9568EA2CB94}"/>
              </a:ext>
            </a:extLst>
          </p:cNvPr>
          <p:cNvSpPr/>
          <p:nvPr/>
        </p:nvSpPr>
        <p:spPr>
          <a:xfrm>
            <a:off x="3113720" y="3759692"/>
            <a:ext cx="184225" cy="121916"/>
          </a:xfrm>
          <a:prstGeom prst="rightArrow">
            <a:avLst>
              <a:gd name="adj1" fmla="val 55000"/>
              <a:gd name="adj2" fmla="val 5500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Right Arrow 35">
            <a:extLst>
              <a:ext uri="{FF2B5EF4-FFF2-40B4-BE49-F238E27FC236}">
                <a16:creationId xmlns:a16="http://schemas.microsoft.com/office/drawing/2014/main" id="{4AB25075-3CDD-E165-F7E3-1D7164486D1F}"/>
              </a:ext>
            </a:extLst>
          </p:cNvPr>
          <p:cNvSpPr/>
          <p:nvPr/>
        </p:nvSpPr>
        <p:spPr>
          <a:xfrm>
            <a:off x="3113720" y="5048659"/>
            <a:ext cx="184225" cy="121916"/>
          </a:xfrm>
          <a:prstGeom prst="rightArrow">
            <a:avLst>
              <a:gd name="adj1" fmla="val 55000"/>
              <a:gd name="adj2" fmla="val 5500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Right Arrow 11">
            <a:extLst>
              <a:ext uri="{FF2B5EF4-FFF2-40B4-BE49-F238E27FC236}">
                <a16:creationId xmlns:a16="http://schemas.microsoft.com/office/drawing/2014/main" id="{C4F5F762-A39A-BA7C-60E3-E50998FE3A84}"/>
              </a:ext>
            </a:extLst>
          </p:cNvPr>
          <p:cNvSpPr/>
          <p:nvPr/>
        </p:nvSpPr>
        <p:spPr>
          <a:xfrm>
            <a:off x="9060005" y="1466065"/>
            <a:ext cx="204770" cy="121916"/>
          </a:xfrm>
          <a:prstGeom prst="rightArrow">
            <a:avLst>
              <a:gd name="adj1" fmla="val 55000"/>
              <a:gd name="adj2" fmla="val 5500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Right Arrow 19">
            <a:extLst>
              <a:ext uri="{FF2B5EF4-FFF2-40B4-BE49-F238E27FC236}">
                <a16:creationId xmlns:a16="http://schemas.microsoft.com/office/drawing/2014/main" id="{C29AAD73-8955-6D31-BE93-7F3BBBA25CB9}"/>
              </a:ext>
            </a:extLst>
          </p:cNvPr>
          <p:cNvSpPr/>
          <p:nvPr/>
        </p:nvSpPr>
        <p:spPr>
          <a:xfrm>
            <a:off x="9060005" y="2609036"/>
            <a:ext cx="204770" cy="121916"/>
          </a:xfrm>
          <a:prstGeom prst="rightArrow">
            <a:avLst>
              <a:gd name="adj1" fmla="val 55000"/>
              <a:gd name="adj2" fmla="val 5500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Right Arrow 27">
            <a:extLst>
              <a:ext uri="{FF2B5EF4-FFF2-40B4-BE49-F238E27FC236}">
                <a16:creationId xmlns:a16="http://schemas.microsoft.com/office/drawing/2014/main" id="{F9B2EAB5-4469-1817-5D7F-B427D9FBD056}"/>
              </a:ext>
            </a:extLst>
          </p:cNvPr>
          <p:cNvSpPr/>
          <p:nvPr/>
        </p:nvSpPr>
        <p:spPr>
          <a:xfrm>
            <a:off x="9060005" y="3752008"/>
            <a:ext cx="204770" cy="121916"/>
          </a:xfrm>
          <a:prstGeom prst="rightArrow">
            <a:avLst>
              <a:gd name="adj1" fmla="val 55000"/>
              <a:gd name="adj2" fmla="val 5500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Right Arrow 35">
            <a:extLst>
              <a:ext uri="{FF2B5EF4-FFF2-40B4-BE49-F238E27FC236}">
                <a16:creationId xmlns:a16="http://schemas.microsoft.com/office/drawing/2014/main" id="{FA830FB8-11D1-E6A5-D0B2-DC1EE280A9D7}"/>
              </a:ext>
            </a:extLst>
          </p:cNvPr>
          <p:cNvSpPr/>
          <p:nvPr/>
        </p:nvSpPr>
        <p:spPr>
          <a:xfrm>
            <a:off x="9060005" y="5014622"/>
            <a:ext cx="204770" cy="121916"/>
          </a:xfrm>
          <a:prstGeom prst="rightArrow">
            <a:avLst>
              <a:gd name="adj1" fmla="val 55000"/>
              <a:gd name="adj2" fmla="val 5500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ight Arrow 35">
            <a:extLst>
              <a:ext uri="{FF2B5EF4-FFF2-40B4-BE49-F238E27FC236}">
                <a16:creationId xmlns:a16="http://schemas.microsoft.com/office/drawing/2014/main" id="{B2F37785-A3A4-E1E3-14C9-7411AC88505F}"/>
              </a:ext>
            </a:extLst>
          </p:cNvPr>
          <p:cNvSpPr/>
          <p:nvPr/>
        </p:nvSpPr>
        <p:spPr>
          <a:xfrm>
            <a:off x="6196275" y="3698734"/>
            <a:ext cx="204770" cy="121916"/>
          </a:xfrm>
          <a:prstGeom prst="rightArrow">
            <a:avLst>
              <a:gd name="adj1" fmla="val 55000"/>
              <a:gd name="adj2" fmla="val 5500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245</Words>
  <Application>Microsoft Office PowerPoint</Application>
  <PresentationFormat>Custom</PresentationFormat>
  <Paragraphs>61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user</cp:lastModifiedBy>
  <cp:revision>12</cp:revision>
  <dcterms:created xsi:type="dcterms:W3CDTF">2013-01-27T09:14:16Z</dcterms:created>
  <dcterms:modified xsi:type="dcterms:W3CDTF">2026-07-13T12:17:21Z</dcterms:modified>
  <cp:category/>
</cp:coreProperties>
</file>