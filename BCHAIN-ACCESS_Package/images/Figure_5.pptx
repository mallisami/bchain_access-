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Times New Roman Bold" panose="02020803070505020304" pitchFamily="18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 varScale="1">
        <p:scale>
          <a:sx n="48" d="100"/>
          <a:sy n="48" d="100"/>
        </p:scale>
        <p:origin x="63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6676" y="152400"/>
            <a:ext cx="14850117" cy="1793775"/>
            <a:chOff x="0" y="0"/>
            <a:chExt cx="19255550" cy="232591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255485" cy="2325878"/>
            </a:xfrm>
            <a:custGeom>
              <a:avLst/>
              <a:gdLst/>
              <a:ahLst/>
              <a:cxnLst/>
              <a:rect l="l" t="t" r="r" b="b"/>
              <a:pathLst>
                <a:path w="19255485" h="2325878">
                  <a:moveTo>
                    <a:pt x="0" y="69723"/>
                  </a:moveTo>
                  <a:cubicBezTo>
                    <a:pt x="0" y="31242"/>
                    <a:pt x="31242" y="0"/>
                    <a:pt x="69723" y="0"/>
                  </a:cubicBezTo>
                  <a:lnTo>
                    <a:pt x="19185762" y="0"/>
                  </a:lnTo>
                  <a:cubicBezTo>
                    <a:pt x="19224244" y="0"/>
                    <a:pt x="19255485" y="31242"/>
                    <a:pt x="19255485" y="69723"/>
                  </a:cubicBezTo>
                  <a:lnTo>
                    <a:pt x="19255485" y="2256155"/>
                  </a:lnTo>
                  <a:cubicBezTo>
                    <a:pt x="19255485" y="2294636"/>
                    <a:pt x="19224244" y="2325878"/>
                    <a:pt x="19185762" y="2325878"/>
                  </a:cubicBezTo>
                  <a:lnTo>
                    <a:pt x="69723" y="2325878"/>
                  </a:lnTo>
                  <a:cubicBezTo>
                    <a:pt x="31242" y="2325878"/>
                    <a:pt x="0" y="2294636"/>
                    <a:pt x="0" y="2256155"/>
                  </a:cubicBezTo>
                  <a:close/>
                </a:path>
              </a:pathLst>
            </a:custGeom>
            <a:solidFill>
              <a:srgbClr val="FFFFFF"/>
            </a:solidFill>
            <a:ln w="28597" cap="sq">
              <a:solidFill>
                <a:srgbClr val="1E40AF"/>
              </a:solidFill>
              <a:prstDash val="solid"/>
              <a:miter/>
            </a:ln>
          </p:spPr>
        </p:sp>
      </p:grpSp>
      <p:grpSp>
        <p:nvGrpSpPr>
          <p:cNvPr id="4" name="Group 4"/>
          <p:cNvGrpSpPr/>
          <p:nvPr/>
        </p:nvGrpSpPr>
        <p:grpSpPr>
          <a:xfrm>
            <a:off x="91377" y="167101"/>
            <a:ext cx="2540696" cy="1764372"/>
            <a:chOff x="0" y="0"/>
            <a:chExt cx="3294418" cy="228779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294380" cy="2287778"/>
            </a:xfrm>
            <a:custGeom>
              <a:avLst/>
              <a:gdLst/>
              <a:ahLst/>
              <a:cxnLst/>
              <a:rect l="l" t="t" r="r" b="b"/>
              <a:pathLst>
                <a:path w="3294380" h="2287778">
                  <a:moveTo>
                    <a:pt x="0" y="0"/>
                  </a:moveTo>
                  <a:lnTo>
                    <a:pt x="3294380" y="0"/>
                  </a:lnTo>
                  <a:lnTo>
                    <a:pt x="3294380" y="2287778"/>
                  </a:lnTo>
                  <a:lnTo>
                    <a:pt x="0" y="2287778"/>
                  </a:lnTo>
                  <a:close/>
                </a:path>
              </a:pathLst>
            </a:custGeom>
            <a:solidFill>
              <a:srgbClr val="004B9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6" name="TextBox 6"/>
          <p:cNvSpPr txBox="1"/>
          <p:nvPr/>
        </p:nvSpPr>
        <p:spPr>
          <a:xfrm>
            <a:off x="147793" y="530454"/>
            <a:ext cx="2448021" cy="897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LAYER 1</a:t>
            </a:r>
          </a:p>
          <a:p>
            <a:pPr algn="ctr">
              <a:lnSpc>
                <a:spcPts val="222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User and Assistive</a:t>
            </a:r>
          </a:p>
          <a:p>
            <a:pPr algn="ctr">
              <a:lnSpc>
                <a:spcPts val="222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Technology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773220" y="233429"/>
            <a:ext cx="9217066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0"/>
              </a:lnSpc>
            </a:pPr>
            <a:r>
              <a:rPr lang="en-US" sz="20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Accessible user interfaces and assistive technologies ensuring perceivable, operable, understandable and robust interaction (WCAG 2.1 Level AA)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833995" y="825518"/>
            <a:ext cx="1784833" cy="887914"/>
            <a:chOff x="0" y="0"/>
            <a:chExt cx="2314321" cy="95641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314229" cy="956320"/>
            </a:xfrm>
            <a:custGeom>
              <a:avLst/>
              <a:gdLst/>
              <a:ahLst/>
              <a:cxnLst/>
              <a:rect l="l" t="t" r="r" b="b"/>
              <a:pathLst>
                <a:path w="2314229" h="956320">
                  <a:moveTo>
                    <a:pt x="0" y="76486"/>
                  </a:moveTo>
                  <a:cubicBezTo>
                    <a:pt x="0" y="34247"/>
                    <a:pt x="55564" y="0"/>
                    <a:pt x="124092" y="0"/>
                  </a:cubicBezTo>
                  <a:lnTo>
                    <a:pt x="2190136" y="0"/>
                  </a:lnTo>
                  <a:cubicBezTo>
                    <a:pt x="2258665" y="0"/>
                    <a:pt x="2314229" y="34247"/>
                    <a:pt x="2314229" y="76486"/>
                  </a:cubicBezTo>
                  <a:lnTo>
                    <a:pt x="2314229" y="879834"/>
                  </a:lnTo>
                  <a:cubicBezTo>
                    <a:pt x="2314229" y="922073"/>
                    <a:pt x="2258665" y="956320"/>
                    <a:pt x="2190136" y="956320"/>
                  </a:cubicBezTo>
                  <a:lnTo>
                    <a:pt x="124092" y="956320"/>
                  </a:lnTo>
                  <a:cubicBezTo>
                    <a:pt x="55564" y="956320"/>
                    <a:pt x="0" y="922073"/>
                    <a:pt x="0" y="879834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E40AF"/>
              </a:solidFill>
              <a:prstDash val="solid"/>
              <a:miter/>
            </a:ln>
          </p:spPr>
        </p:sp>
      </p:grpSp>
      <p:sp>
        <p:nvSpPr>
          <p:cNvPr id="10" name="TextBox 10"/>
          <p:cNvSpPr txBox="1"/>
          <p:nvPr/>
        </p:nvSpPr>
        <p:spPr>
          <a:xfrm>
            <a:off x="2929314" y="952500"/>
            <a:ext cx="1566486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Screen Readers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(NVDA, JAWS,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Voice Over)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4775518" y="830012"/>
            <a:ext cx="1713402" cy="883419"/>
            <a:chOff x="0" y="0"/>
            <a:chExt cx="2221700" cy="98318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21611" cy="983083"/>
            </a:xfrm>
            <a:custGeom>
              <a:avLst/>
              <a:gdLst/>
              <a:ahLst/>
              <a:cxnLst/>
              <a:rect l="l" t="t" r="r" b="b"/>
              <a:pathLst>
                <a:path w="2221611" h="983083">
                  <a:moveTo>
                    <a:pt x="0" y="78626"/>
                  </a:moveTo>
                  <a:cubicBezTo>
                    <a:pt x="0" y="35206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5206"/>
                    <a:pt x="2221611" y="78626"/>
                  </a:cubicBezTo>
                  <a:lnTo>
                    <a:pt x="2221611" y="904456"/>
                  </a:lnTo>
                  <a:cubicBezTo>
                    <a:pt x="2221611" y="947877"/>
                    <a:pt x="2168271" y="983083"/>
                    <a:pt x="2102485" y="983083"/>
                  </a:cubicBezTo>
                  <a:lnTo>
                    <a:pt x="119126" y="983083"/>
                  </a:lnTo>
                  <a:cubicBezTo>
                    <a:pt x="53340" y="983083"/>
                    <a:pt x="0" y="947877"/>
                    <a:pt x="0" y="904456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E40AF"/>
              </a:solidFill>
              <a:prstDash val="solid"/>
              <a:miter/>
            </a:ln>
          </p:spPr>
        </p:sp>
      </p:grpSp>
      <p:sp>
        <p:nvSpPr>
          <p:cNvPr id="13" name="TextBox 13"/>
          <p:cNvSpPr txBox="1"/>
          <p:nvPr/>
        </p:nvSpPr>
        <p:spPr>
          <a:xfrm>
            <a:off x="4765743" y="1028700"/>
            <a:ext cx="1693794" cy="450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Keyboard-only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Navigation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60341" y="854062"/>
            <a:ext cx="1713402" cy="859369"/>
            <a:chOff x="0" y="0"/>
            <a:chExt cx="2221700" cy="95641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221611" cy="956320"/>
            </a:xfrm>
            <a:custGeom>
              <a:avLst/>
              <a:gdLst/>
              <a:ahLst/>
              <a:cxnLst/>
              <a:rect l="l" t="t" r="r" b="b"/>
              <a:pathLst>
                <a:path w="2221611" h="956320">
                  <a:moveTo>
                    <a:pt x="0" y="76486"/>
                  </a:moveTo>
                  <a:cubicBezTo>
                    <a:pt x="0" y="34247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4247"/>
                    <a:pt x="2221611" y="76486"/>
                  </a:cubicBezTo>
                  <a:lnTo>
                    <a:pt x="2221611" y="879834"/>
                  </a:lnTo>
                  <a:cubicBezTo>
                    <a:pt x="2221611" y="922073"/>
                    <a:pt x="2168271" y="956320"/>
                    <a:pt x="2102485" y="956320"/>
                  </a:cubicBezTo>
                  <a:lnTo>
                    <a:pt x="119126" y="956320"/>
                  </a:lnTo>
                  <a:cubicBezTo>
                    <a:pt x="53340" y="956320"/>
                    <a:pt x="0" y="922073"/>
                    <a:pt x="0" y="879834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E40AF"/>
              </a:solidFill>
              <a:prstDash val="solid"/>
              <a:miter/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6570145" y="1028700"/>
            <a:ext cx="1693794" cy="450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Voice Control and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Voice Commands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423510" y="880872"/>
            <a:ext cx="1713402" cy="852677"/>
            <a:chOff x="0" y="0"/>
            <a:chExt cx="2221700" cy="94896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221611" cy="948872"/>
            </a:xfrm>
            <a:custGeom>
              <a:avLst/>
              <a:gdLst/>
              <a:ahLst/>
              <a:cxnLst/>
              <a:rect l="l" t="t" r="r" b="b"/>
              <a:pathLst>
                <a:path w="2221611" h="948872">
                  <a:moveTo>
                    <a:pt x="0" y="75890"/>
                  </a:moveTo>
                  <a:cubicBezTo>
                    <a:pt x="0" y="33981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3981"/>
                    <a:pt x="2221611" y="75890"/>
                  </a:cubicBezTo>
                  <a:lnTo>
                    <a:pt x="2221611" y="872982"/>
                  </a:lnTo>
                  <a:cubicBezTo>
                    <a:pt x="2221611" y="914892"/>
                    <a:pt x="2168271" y="948872"/>
                    <a:pt x="2102485" y="948872"/>
                  </a:cubicBezTo>
                  <a:lnTo>
                    <a:pt x="119126" y="948872"/>
                  </a:lnTo>
                  <a:cubicBezTo>
                    <a:pt x="53340" y="948872"/>
                    <a:pt x="0" y="914892"/>
                    <a:pt x="0" y="872982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E40AF"/>
              </a:solidFill>
              <a:prstDash val="solid"/>
              <a:miter/>
            </a:ln>
          </p:spPr>
        </p:sp>
      </p:grpSp>
      <p:sp>
        <p:nvSpPr>
          <p:cNvPr id="19" name="TextBox 19"/>
          <p:cNvSpPr txBox="1"/>
          <p:nvPr/>
        </p:nvSpPr>
        <p:spPr>
          <a:xfrm>
            <a:off x="8433314" y="1028700"/>
            <a:ext cx="1693794" cy="450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High Contrast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and Zoom Modes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286688" y="865848"/>
            <a:ext cx="1713402" cy="867702"/>
            <a:chOff x="0" y="0"/>
            <a:chExt cx="2221700" cy="8872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221611" cy="887163"/>
            </a:xfrm>
            <a:custGeom>
              <a:avLst/>
              <a:gdLst/>
              <a:ahLst/>
              <a:cxnLst/>
              <a:rect l="l" t="t" r="r" b="b"/>
              <a:pathLst>
                <a:path w="2221611" h="887163">
                  <a:moveTo>
                    <a:pt x="0" y="70955"/>
                  </a:moveTo>
                  <a:cubicBezTo>
                    <a:pt x="0" y="31771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1771"/>
                    <a:pt x="2221611" y="70955"/>
                  </a:cubicBezTo>
                  <a:lnTo>
                    <a:pt x="2221611" y="816208"/>
                  </a:lnTo>
                  <a:cubicBezTo>
                    <a:pt x="2221611" y="855392"/>
                    <a:pt x="2168271" y="887163"/>
                    <a:pt x="2102485" y="887163"/>
                  </a:cubicBezTo>
                  <a:lnTo>
                    <a:pt x="119126" y="887163"/>
                  </a:lnTo>
                  <a:cubicBezTo>
                    <a:pt x="53340" y="887163"/>
                    <a:pt x="0" y="855392"/>
                    <a:pt x="0" y="816208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E40AF"/>
              </a:solidFill>
              <a:prstDash val="solid"/>
              <a:miter/>
            </a:ln>
          </p:spPr>
        </p:sp>
      </p:grpSp>
      <p:sp>
        <p:nvSpPr>
          <p:cNvPr id="22" name="TextBox 22"/>
          <p:cNvSpPr txBox="1"/>
          <p:nvPr/>
        </p:nvSpPr>
        <p:spPr>
          <a:xfrm>
            <a:off x="10296492" y="1035897"/>
            <a:ext cx="1693794" cy="450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Plain Language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Support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35991" y="265633"/>
            <a:ext cx="2211487" cy="293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21"/>
              </a:lnSpc>
            </a:pPr>
            <a:r>
              <a:rPr lang="en-US" sz="20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Layer Function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2441964" y="599730"/>
            <a:ext cx="2399539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2000" dirty="0">
                <a:solidFill>
                  <a:srgbClr val="11182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Ensures accessibility and usability for people with disabilities (</a:t>
            </a:r>
            <a:r>
              <a:rPr lang="en-US" sz="2000" dirty="0" err="1">
                <a:solidFill>
                  <a:srgbClr val="11182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PwDs</a:t>
            </a:r>
            <a:r>
              <a:rPr lang="en-US" sz="2000" dirty="0">
                <a:solidFill>
                  <a:srgbClr val="11182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76676" y="2448976"/>
            <a:ext cx="14850117" cy="1793775"/>
            <a:chOff x="0" y="0"/>
            <a:chExt cx="19255550" cy="232591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9255485" cy="2325878"/>
            </a:xfrm>
            <a:custGeom>
              <a:avLst/>
              <a:gdLst/>
              <a:ahLst/>
              <a:cxnLst/>
              <a:rect l="l" t="t" r="r" b="b"/>
              <a:pathLst>
                <a:path w="19255485" h="2325878">
                  <a:moveTo>
                    <a:pt x="0" y="69723"/>
                  </a:moveTo>
                  <a:cubicBezTo>
                    <a:pt x="0" y="31242"/>
                    <a:pt x="31242" y="0"/>
                    <a:pt x="69723" y="0"/>
                  </a:cubicBezTo>
                  <a:lnTo>
                    <a:pt x="19185762" y="0"/>
                  </a:lnTo>
                  <a:cubicBezTo>
                    <a:pt x="19224244" y="0"/>
                    <a:pt x="19255485" y="31242"/>
                    <a:pt x="19255485" y="69723"/>
                  </a:cubicBezTo>
                  <a:lnTo>
                    <a:pt x="19255485" y="2256155"/>
                  </a:lnTo>
                  <a:cubicBezTo>
                    <a:pt x="19255485" y="2294636"/>
                    <a:pt x="19224244" y="2325878"/>
                    <a:pt x="19185762" y="2325878"/>
                  </a:cubicBezTo>
                  <a:lnTo>
                    <a:pt x="69723" y="2325878"/>
                  </a:lnTo>
                  <a:cubicBezTo>
                    <a:pt x="31242" y="2325878"/>
                    <a:pt x="0" y="2294636"/>
                    <a:pt x="0" y="2256155"/>
                  </a:cubicBezTo>
                  <a:close/>
                </a:path>
              </a:pathLst>
            </a:custGeom>
            <a:solidFill>
              <a:srgbClr val="FFFFFF"/>
            </a:solidFill>
            <a:ln w="28597" cap="sq">
              <a:solidFill>
                <a:srgbClr val="C27803"/>
              </a:solidFill>
              <a:prstDash val="solid"/>
              <a:miter/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91377" y="2463677"/>
            <a:ext cx="2540696" cy="1764372"/>
            <a:chOff x="0" y="0"/>
            <a:chExt cx="3294418" cy="2287791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294380" cy="2287778"/>
            </a:xfrm>
            <a:custGeom>
              <a:avLst/>
              <a:gdLst/>
              <a:ahLst/>
              <a:cxnLst/>
              <a:rect l="l" t="t" r="r" b="b"/>
              <a:pathLst>
                <a:path w="3294380" h="2287778">
                  <a:moveTo>
                    <a:pt x="0" y="0"/>
                  </a:moveTo>
                  <a:lnTo>
                    <a:pt x="3294380" y="0"/>
                  </a:lnTo>
                  <a:lnTo>
                    <a:pt x="3294380" y="2287778"/>
                  </a:lnTo>
                  <a:lnTo>
                    <a:pt x="0" y="2287778"/>
                  </a:lnTo>
                  <a:close/>
                </a:path>
              </a:pathLst>
            </a:custGeom>
            <a:solidFill>
              <a:srgbClr val="D86B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9" name="TextBox 29"/>
          <p:cNvSpPr txBox="1"/>
          <p:nvPr/>
        </p:nvSpPr>
        <p:spPr>
          <a:xfrm>
            <a:off x="185404" y="2705100"/>
            <a:ext cx="2352643" cy="1181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LAYER 2</a:t>
            </a:r>
          </a:p>
          <a:p>
            <a:pPr algn="ctr">
              <a:lnSpc>
                <a:spcPts val="222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HCI Abstraction and</a:t>
            </a:r>
          </a:p>
          <a:p>
            <a:pPr algn="ctr">
              <a:lnSpc>
                <a:spcPts val="222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Presentation 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773220" y="2520480"/>
            <a:ext cx="9217066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0"/>
              </a:lnSpc>
            </a:pPr>
            <a:r>
              <a:rPr lang="en-US" sz="2000" b="1" dirty="0">
                <a:solidFill>
                  <a:srgbClr val="D86B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Applies</a:t>
            </a:r>
            <a:r>
              <a:rPr lang="en-US" sz="2000" b="1" dirty="0">
                <a:solidFill>
                  <a:srgbClr val="C27803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  <a:r>
              <a:rPr lang="en-US" sz="2000" b="1" dirty="0">
                <a:solidFill>
                  <a:srgbClr val="D86B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HCI principles (AAD, PTD, CID, UAC) to present information clearly, reduce cognitive load and support inclusive interaction</a:t>
            </a:r>
            <a:r>
              <a:rPr lang="en-US" sz="2000" b="1" dirty="0">
                <a:solidFill>
                  <a:srgbClr val="C27803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.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2833995" y="3122548"/>
            <a:ext cx="1713402" cy="988274"/>
            <a:chOff x="0" y="0"/>
            <a:chExt cx="2221700" cy="99188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221611" cy="991788"/>
            </a:xfrm>
            <a:custGeom>
              <a:avLst/>
              <a:gdLst/>
              <a:ahLst/>
              <a:cxnLst/>
              <a:rect l="l" t="t" r="r" b="b"/>
              <a:pathLst>
                <a:path w="2221611" h="991788">
                  <a:moveTo>
                    <a:pt x="0" y="79323"/>
                  </a:moveTo>
                  <a:cubicBezTo>
                    <a:pt x="0" y="35518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5518"/>
                    <a:pt x="2221611" y="79323"/>
                  </a:cubicBezTo>
                  <a:lnTo>
                    <a:pt x="2221611" y="912465"/>
                  </a:lnTo>
                  <a:cubicBezTo>
                    <a:pt x="2221611" y="956270"/>
                    <a:pt x="2168271" y="991788"/>
                    <a:pt x="2102485" y="991788"/>
                  </a:cubicBezTo>
                  <a:lnTo>
                    <a:pt x="119126" y="991788"/>
                  </a:lnTo>
                  <a:cubicBezTo>
                    <a:pt x="53340" y="991788"/>
                    <a:pt x="0" y="956270"/>
                    <a:pt x="0" y="912465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C27803"/>
              </a:solidFill>
              <a:prstDash val="solid"/>
              <a:miter/>
            </a:ln>
          </p:spPr>
        </p:sp>
      </p:grpSp>
      <p:sp>
        <p:nvSpPr>
          <p:cNvPr id="33" name="TextBox 33"/>
          <p:cNvSpPr txBox="1"/>
          <p:nvPr/>
        </p:nvSpPr>
        <p:spPr>
          <a:xfrm>
            <a:off x="2843789" y="3314700"/>
            <a:ext cx="1693794" cy="4500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Biometric Key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Binding Interface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4697163" y="3119590"/>
            <a:ext cx="1713402" cy="991231"/>
            <a:chOff x="0" y="0"/>
            <a:chExt cx="2221700" cy="994857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221611" cy="994755"/>
            </a:xfrm>
            <a:custGeom>
              <a:avLst/>
              <a:gdLst/>
              <a:ahLst/>
              <a:cxnLst/>
              <a:rect l="l" t="t" r="r" b="b"/>
              <a:pathLst>
                <a:path w="2221611" h="994755">
                  <a:moveTo>
                    <a:pt x="0" y="79560"/>
                  </a:moveTo>
                  <a:cubicBezTo>
                    <a:pt x="0" y="35624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5624"/>
                    <a:pt x="2221611" y="79560"/>
                  </a:cubicBezTo>
                  <a:lnTo>
                    <a:pt x="2221611" y="915195"/>
                  </a:lnTo>
                  <a:cubicBezTo>
                    <a:pt x="2221611" y="959131"/>
                    <a:pt x="2168271" y="994755"/>
                    <a:pt x="2102485" y="994755"/>
                  </a:cubicBezTo>
                  <a:lnTo>
                    <a:pt x="119126" y="994755"/>
                  </a:lnTo>
                  <a:cubicBezTo>
                    <a:pt x="53340" y="994755"/>
                    <a:pt x="0" y="959131"/>
                    <a:pt x="0" y="915195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C27803"/>
              </a:solidFill>
              <a:prstDash val="solid"/>
              <a:miter/>
            </a:ln>
          </p:spPr>
        </p:sp>
      </p:grpSp>
      <p:sp>
        <p:nvSpPr>
          <p:cNvPr id="36" name="TextBox 36"/>
          <p:cNvSpPr txBox="1"/>
          <p:nvPr/>
        </p:nvSpPr>
        <p:spPr>
          <a:xfrm>
            <a:off x="4706967" y="3314700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Time-locked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Confirmation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Dialog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6560341" y="3122548"/>
            <a:ext cx="1713402" cy="988274"/>
            <a:chOff x="0" y="0"/>
            <a:chExt cx="2221700" cy="99188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2221611" cy="991788"/>
            </a:xfrm>
            <a:custGeom>
              <a:avLst/>
              <a:gdLst/>
              <a:ahLst/>
              <a:cxnLst/>
              <a:rect l="l" t="t" r="r" b="b"/>
              <a:pathLst>
                <a:path w="2221611" h="991788">
                  <a:moveTo>
                    <a:pt x="0" y="79323"/>
                  </a:moveTo>
                  <a:cubicBezTo>
                    <a:pt x="0" y="35518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5518"/>
                    <a:pt x="2221611" y="79323"/>
                  </a:cubicBezTo>
                  <a:lnTo>
                    <a:pt x="2221611" y="912465"/>
                  </a:lnTo>
                  <a:cubicBezTo>
                    <a:pt x="2221611" y="956270"/>
                    <a:pt x="2168271" y="991788"/>
                    <a:pt x="2102485" y="991788"/>
                  </a:cubicBezTo>
                  <a:lnTo>
                    <a:pt x="119126" y="991788"/>
                  </a:lnTo>
                  <a:cubicBezTo>
                    <a:pt x="53340" y="991788"/>
                    <a:pt x="0" y="956270"/>
                    <a:pt x="0" y="912465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C27803"/>
              </a:solidFill>
              <a:prstDash val="solid"/>
              <a:miter/>
            </a:ln>
          </p:spPr>
        </p:sp>
      </p:grpSp>
      <p:sp>
        <p:nvSpPr>
          <p:cNvPr id="39" name="TextBox 39"/>
          <p:cNvSpPr txBox="1"/>
          <p:nvPr/>
        </p:nvSpPr>
        <p:spPr>
          <a:xfrm>
            <a:off x="6570145" y="3314700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Plain-Language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Transaction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Feedback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8423510" y="3122548"/>
            <a:ext cx="1713402" cy="988274"/>
            <a:chOff x="0" y="0"/>
            <a:chExt cx="2221700" cy="99188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2221611" cy="991788"/>
            </a:xfrm>
            <a:custGeom>
              <a:avLst/>
              <a:gdLst/>
              <a:ahLst/>
              <a:cxnLst/>
              <a:rect l="l" t="t" r="r" b="b"/>
              <a:pathLst>
                <a:path w="2221611" h="991788">
                  <a:moveTo>
                    <a:pt x="0" y="79323"/>
                  </a:moveTo>
                  <a:cubicBezTo>
                    <a:pt x="0" y="35518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5518"/>
                    <a:pt x="2221611" y="79323"/>
                  </a:cubicBezTo>
                  <a:lnTo>
                    <a:pt x="2221611" y="912465"/>
                  </a:lnTo>
                  <a:cubicBezTo>
                    <a:pt x="2221611" y="956270"/>
                    <a:pt x="2168271" y="991788"/>
                    <a:pt x="2102485" y="991788"/>
                  </a:cubicBezTo>
                  <a:lnTo>
                    <a:pt x="119126" y="991788"/>
                  </a:lnTo>
                  <a:cubicBezTo>
                    <a:pt x="53340" y="991788"/>
                    <a:pt x="0" y="956270"/>
                    <a:pt x="0" y="912465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C27803"/>
              </a:solidFill>
              <a:prstDash val="solid"/>
              <a:miter/>
            </a:ln>
          </p:spPr>
        </p:sp>
      </p:grpSp>
      <p:sp>
        <p:nvSpPr>
          <p:cNvPr id="42" name="TextBox 42"/>
          <p:cNvSpPr txBox="1"/>
          <p:nvPr/>
        </p:nvSpPr>
        <p:spPr>
          <a:xfrm>
            <a:off x="8433314" y="3314700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ARIA Live Regions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and Focus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Management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10286688" y="3160885"/>
            <a:ext cx="1713402" cy="892786"/>
            <a:chOff x="0" y="0"/>
            <a:chExt cx="2221700" cy="89605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2221611" cy="895960"/>
            </a:xfrm>
            <a:custGeom>
              <a:avLst/>
              <a:gdLst/>
              <a:ahLst/>
              <a:cxnLst/>
              <a:rect l="l" t="t" r="r" b="b"/>
              <a:pathLst>
                <a:path w="2221611" h="895960">
                  <a:moveTo>
                    <a:pt x="0" y="71658"/>
                  </a:moveTo>
                  <a:cubicBezTo>
                    <a:pt x="0" y="32086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2086"/>
                    <a:pt x="2221611" y="71658"/>
                  </a:cubicBezTo>
                  <a:lnTo>
                    <a:pt x="2221611" y="824301"/>
                  </a:lnTo>
                  <a:cubicBezTo>
                    <a:pt x="2221611" y="863874"/>
                    <a:pt x="2168271" y="895960"/>
                    <a:pt x="2102485" y="895960"/>
                  </a:cubicBezTo>
                  <a:lnTo>
                    <a:pt x="119126" y="895960"/>
                  </a:lnTo>
                  <a:cubicBezTo>
                    <a:pt x="53340" y="895960"/>
                    <a:pt x="0" y="863874"/>
                    <a:pt x="0" y="824301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C27803"/>
              </a:solidFill>
              <a:prstDash val="solid"/>
              <a:miter/>
            </a:ln>
          </p:spPr>
        </p:sp>
      </p:grpSp>
      <p:sp>
        <p:nvSpPr>
          <p:cNvPr id="45" name="TextBox 45"/>
          <p:cNvSpPr txBox="1"/>
          <p:nvPr/>
        </p:nvSpPr>
        <p:spPr>
          <a:xfrm>
            <a:off x="10296492" y="3314700"/>
            <a:ext cx="1621597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Adaptive UI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(Context-aware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Presentation)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535991" y="2562219"/>
            <a:ext cx="2211487" cy="293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21"/>
              </a:lnSpc>
            </a:pPr>
            <a:r>
              <a:rPr lang="en-US" sz="2000" b="1" dirty="0">
                <a:solidFill>
                  <a:srgbClr val="D86B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Layer Function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2344400" y="2896306"/>
            <a:ext cx="2578805" cy="12182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2000" dirty="0">
                <a:solidFill>
                  <a:srgbClr val="11182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Abstracts complexity and presents information in an accessible, inclusive and user-friendly manner.</a:t>
            </a:r>
          </a:p>
        </p:txBody>
      </p:sp>
      <p:grpSp>
        <p:nvGrpSpPr>
          <p:cNvPr id="48" name="Group 48"/>
          <p:cNvGrpSpPr/>
          <p:nvPr/>
        </p:nvGrpSpPr>
        <p:grpSpPr>
          <a:xfrm>
            <a:off x="76676" y="4751185"/>
            <a:ext cx="14850117" cy="1793775"/>
            <a:chOff x="0" y="0"/>
            <a:chExt cx="19255550" cy="2325916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9255485" cy="2325878"/>
            </a:xfrm>
            <a:custGeom>
              <a:avLst/>
              <a:gdLst/>
              <a:ahLst/>
              <a:cxnLst/>
              <a:rect l="l" t="t" r="r" b="b"/>
              <a:pathLst>
                <a:path w="19255485" h="2325878">
                  <a:moveTo>
                    <a:pt x="0" y="69723"/>
                  </a:moveTo>
                  <a:cubicBezTo>
                    <a:pt x="0" y="31242"/>
                    <a:pt x="31242" y="0"/>
                    <a:pt x="69723" y="0"/>
                  </a:cubicBezTo>
                  <a:lnTo>
                    <a:pt x="19185762" y="0"/>
                  </a:lnTo>
                  <a:cubicBezTo>
                    <a:pt x="19224244" y="0"/>
                    <a:pt x="19255485" y="31242"/>
                    <a:pt x="19255485" y="69723"/>
                  </a:cubicBezTo>
                  <a:lnTo>
                    <a:pt x="19255485" y="2256155"/>
                  </a:lnTo>
                  <a:cubicBezTo>
                    <a:pt x="19255485" y="2294636"/>
                    <a:pt x="19224244" y="2325878"/>
                    <a:pt x="19185762" y="2325878"/>
                  </a:cubicBezTo>
                  <a:lnTo>
                    <a:pt x="69723" y="2325878"/>
                  </a:lnTo>
                  <a:cubicBezTo>
                    <a:pt x="31242" y="2325878"/>
                    <a:pt x="0" y="2294636"/>
                    <a:pt x="0" y="2256155"/>
                  </a:cubicBezTo>
                  <a:close/>
                </a:path>
              </a:pathLst>
            </a:custGeom>
            <a:solidFill>
              <a:srgbClr val="FFFFFF"/>
            </a:solidFill>
            <a:ln w="28597" cap="sq">
              <a:solidFill>
                <a:srgbClr val="15803D"/>
              </a:solidFill>
              <a:prstDash val="solid"/>
              <a:miter/>
            </a:ln>
          </p:spPr>
        </p:sp>
      </p:grpSp>
      <p:grpSp>
        <p:nvGrpSpPr>
          <p:cNvPr id="50" name="Group 50"/>
          <p:cNvGrpSpPr/>
          <p:nvPr/>
        </p:nvGrpSpPr>
        <p:grpSpPr>
          <a:xfrm>
            <a:off x="91377" y="4812063"/>
            <a:ext cx="2540696" cy="1764372"/>
            <a:chOff x="0" y="0"/>
            <a:chExt cx="3294418" cy="2287791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3294380" cy="2287778"/>
            </a:xfrm>
            <a:custGeom>
              <a:avLst/>
              <a:gdLst/>
              <a:ahLst/>
              <a:cxnLst/>
              <a:rect l="l" t="t" r="r" b="b"/>
              <a:pathLst>
                <a:path w="3294380" h="2287778">
                  <a:moveTo>
                    <a:pt x="0" y="0"/>
                  </a:moveTo>
                  <a:lnTo>
                    <a:pt x="3294380" y="0"/>
                  </a:lnTo>
                  <a:lnTo>
                    <a:pt x="3294380" y="2287778"/>
                  </a:lnTo>
                  <a:lnTo>
                    <a:pt x="0" y="2287778"/>
                  </a:lnTo>
                  <a:close/>
                </a:path>
              </a:pathLst>
            </a:custGeom>
            <a:solidFill>
              <a:srgbClr val="0B6A3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2" name="TextBox 52"/>
          <p:cNvSpPr txBox="1"/>
          <p:nvPr/>
        </p:nvSpPr>
        <p:spPr>
          <a:xfrm>
            <a:off x="185404" y="5105086"/>
            <a:ext cx="2352643" cy="1181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LAYER 3</a:t>
            </a:r>
          </a:p>
          <a:p>
            <a:pPr algn="ctr">
              <a:lnSpc>
                <a:spcPts val="222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Smart Contract and</a:t>
            </a:r>
          </a:p>
          <a:p>
            <a:pPr algn="ctr">
              <a:lnSpc>
                <a:spcPts val="222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Consent Logic 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2773220" y="4855960"/>
            <a:ext cx="9217066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0"/>
              </a:lnSpc>
            </a:pPr>
            <a:r>
              <a:rPr lang="en-US" sz="2000" b="1" dirty="0">
                <a:solidFill>
                  <a:srgbClr val="0B6A3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Implements consent management, access control, and auditable workflows through smart contracts and off-chain logic</a:t>
            </a:r>
            <a:r>
              <a:rPr lang="en-US" sz="2000" b="1" dirty="0">
                <a:solidFill>
                  <a:srgbClr val="1580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.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2833995" y="5484581"/>
            <a:ext cx="1713402" cy="974626"/>
            <a:chOff x="0" y="0"/>
            <a:chExt cx="2221700" cy="92074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221611" cy="920646"/>
            </a:xfrm>
            <a:custGeom>
              <a:avLst/>
              <a:gdLst/>
              <a:ahLst/>
              <a:cxnLst/>
              <a:rect l="l" t="t" r="r" b="b"/>
              <a:pathLst>
                <a:path w="2221611" h="920646">
                  <a:moveTo>
                    <a:pt x="0" y="73633"/>
                  </a:moveTo>
                  <a:cubicBezTo>
                    <a:pt x="0" y="32970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2970"/>
                    <a:pt x="2221611" y="73633"/>
                  </a:cubicBezTo>
                  <a:lnTo>
                    <a:pt x="2221611" y="847013"/>
                  </a:lnTo>
                  <a:cubicBezTo>
                    <a:pt x="2221611" y="887676"/>
                    <a:pt x="2168271" y="920646"/>
                    <a:pt x="2102485" y="920646"/>
                  </a:cubicBezTo>
                  <a:lnTo>
                    <a:pt x="119126" y="920646"/>
                  </a:lnTo>
                  <a:cubicBezTo>
                    <a:pt x="53340" y="920646"/>
                    <a:pt x="0" y="887676"/>
                    <a:pt x="0" y="847013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5803D"/>
              </a:solidFill>
              <a:prstDash val="solid"/>
              <a:miter/>
            </a:ln>
          </p:spPr>
        </p:sp>
      </p:grpSp>
      <p:sp>
        <p:nvSpPr>
          <p:cNvPr id="56" name="TextBox 56"/>
          <p:cNvSpPr txBox="1"/>
          <p:nvPr/>
        </p:nvSpPr>
        <p:spPr>
          <a:xfrm>
            <a:off x="2843789" y="5621020"/>
            <a:ext cx="1693794" cy="665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 err="1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InitiateGrant</a:t>
            </a:r>
            <a:endParaRPr lang="en-US" sz="1600" b="1" dirty="0">
              <a:solidFill>
                <a:srgbClr val="111827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(Permissioned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Access)</a:t>
            </a:r>
          </a:p>
        </p:txBody>
      </p:sp>
      <p:grpSp>
        <p:nvGrpSpPr>
          <p:cNvPr id="57" name="Group 57"/>
          <p:cNvGrpSpPr/>
          <p:nvPr/>
        </p:nvGrpSpPr>
        <p:grpSpPr>
          <a:xfrm>
            <a:off x="4697163" y="5484580"/>
            <a:ext cx="1713402" cy="974626"/>
            <a:chOff x="0" y="0"/>
            <a:chExt cx="2221700" cy="891222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2221611" cy="891131"/>
            </a:xfrm>
            <a:custGeom>
              <a:avLst/>
              <a:gdLst/>
              <a:ahLst/>
              <a:cxnLst/>
              <a:rect l="l" t="t" r="r" b="b"/>
              <a:pathLst>
                <a:path w="2221611" h="891131">
                  <a:moveTo>
                    <a:pt x="0" y="71272"/>
                  </a:moveTo>
                  <a:cubicBezTo>
                    <a:pt x="0" y="31913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1913"/>
                    <a:pt x="2221611" y="71272"/>
                  </a:cubicBezTo>
                  <a:lnTo>
                    <a:pt x="2221611" y="819859"/>
                  </a:lnTo>
                  <a:cubicBezTo>
                    <a:pt x="2221611" y="859218"/>
                    <a:pt x="2168271" y="891131"/>
                    <a:pt x="2102485" y="891131"/>
                  </a:cubicBezTo>
                  <a:lnTo>
                    <a:pt x="119126" y="891131"/>
                  </a:lnTo>
                  <a:cubicBezTo>
                    <a:pt x="53340" y="891131"/>
                    <a:pt x="0" y="859218"/>
                    <a:pt x="0" y="819859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5803D"/>
              </a:solidFill>
              <a:prstDash val="solid"/>
              <a:miter/>
            </a:ln>
          </p:spPr>
        </p:sp>
      </p:grpSp>
      <p:sp>
        <p:nvSpPr>
          <p:cNvPr id="59" name="TextBox 59"/>
          <p:cNvSpPr txBox="1"/>
          <p:nvPr/>
        </p:nvSpPr>
        <p:spPr>
          <a:xfrm>
            <a:off x="4706932" y="5647690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Revoke Access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(Access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Revocation)</a:t>
            </a:r>
          </a:p>
        </p:txBody>
      </p:sp>
      <p:grpSp>
        <p:nvGrpSpPr>
          <p:cNvPr id="60" name="Group 60"/>
          <p:cNvGrpSpPr/>
          <p:nvPr/>
        </p:nvGrpSpPr>
        <p:grpSpPr>
          <a:xfrm>
            <a:off x="6560341" y="5484580"/>
            <a:ext cx="1713402" cy="974626"/>
            <a:chOff x="0" y="0"/>
            <a:chExt cx="2221700" cy="92074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2221611" cy="920646"/>
            </a:xfrm>
            <a:custGeom>
              <a:avLst/>
              <a:gdLst/>
              <a:ahLst/>
              <a:cxnLst/>
              <a:rect l="l" t="t" r="r" b="b"/>
              <a:pathLst>
                <a:path w="2221611" h="920646">
                  <a:moveTo>
                    <a:pt x="0" y="73633"/>
                  </a:moveTo>
                  <a:cubicBezTo>
                    <a:pt x="0" y="32970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2970"/>
                    <a:pt x="2221611" y="73633"/>
                  </a:cubicBezTo>
                  <a:lnTo>
                    <a:pt x="2221611" y="847013"/>
                  </a:lnTo>
                  <a:cubicBezTo>
                    <a:pt x="2221611" y="887676"/>
                    <a:pt x="2168271" y="920646"/>
                    <a:pt x="2102485" y="920646"/>
                  </a:cubicBezTo>
                  <a:lnTo>
                    <a:pt x="119126" y="920646"/>
                  </a:lnTo>
                  <a:cubicBezTo>
                    <a:pt x="53340" y="920646"/>
                    <a:pt x="0" y="887676"/>
                    <a:pt x="0" y="847013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5803D"/>
              </a:solidFill>
              <a:prstDash val="solid"/>
              <a:miter/>
            </a:ln>
          </p:spPr>
        </p:sp>
      </p:grpSp>
      <p:sp>
        <p:nvSpPr>
          <p:cNvPr id="62" name="TextBox 62"/>
          <p:cNvSpPr txBox="1"/>
          <p:nvPr/>
        </p:nvSpPr>
        <p:spPr>
          <a:xfrm>
            <a:off x="6543656" y="5629325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 err="1">
                <a:solidFill>
                  <a:srgbClr val="111827"/>
                </a:solidFill>
                <a:latin typeface="Times New Roman Bold"/>
                <a:cs typeface="Times New Roman Bold"/>
              </a:rPr>
              <a:t>ConfirmGrant</a:t>
            </a:r>
            <a:endParaRPr lang="en-US" sz="1600" b="1" dirty="0">
              <a:solidFill>
                <a:srgbClr val="111827"/>
              </a:solidFill>
              <a:latin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(Two-Stage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Commit)</a:t>
            </a:r>
          </a:p>
        </p:txBody>
      </p:sp>
      <p:grpSp>
        <p:nvGrpSpPr>
          <p:cNvPr id="63" name="Group 63"/>
          <p:cNvGrpSpPr/>
          <p:nvPr/>
        </p:nvGrpSpPr>
        <p:grpSpPr>
          <a:xfrm>
            <a:off x="8423510" y="5484220"/>
            <a:ext cx="1713402" cy="974625"/>
            <a:chOff x="0" y="0"/>
            <a:chExt cx="2221700" cy="915111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2221611" cy="915018"/>
            </a:xfrm>
            <a:custGeom>
              <a:avLst/>
              <a:gdLst/>
              <a:ahLst/>
              <a:cxnLst/>
              <a:rect l="l" t="t" r="r" b="b"/>
              <a:pathLst>
                <a:path w="2221611" h="915018">
                  <a:moveTo>
                    <a:pt x="0" y="73183"/>
                  </a:moveTo>
                  <a:cubicBezTo>
                    <a:pt x="0" y="32768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2768"/>
                    <a:pt x="2221611" y="73183"/>
                  </a:cubicBezTo>
                  <a:lnTo>
                    <a:pt x="2221611" y="841835"/>
                  </a:lnTo>
                  <a:cubicBezTo>
                    <a:pt x="2221611" y="882249"/>
                    <a:pt x="2168271" y="915018"/>
                    <a:pt x="2102485" y="915018"/>
                  </a:cubicBezTo>
                  <a:lnTo>
                    <a:pt x="119126" y="915018"/>
                  </a:lnTo>
                  <a:cubicBezTo>
                    <a:pt x="53340" y="915018"/>
                    <a:pt x="0" y="882249"/>
                    <a:pt x="0" y="841835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5803D"/>
              </a:solidFill>
              <a:prstDash val="solid"/>
              <a:miter/>
            </a:ln>
          </p:spPr>
        </p:sp>
      </p:grpSp>
      <p:sp>
        <p:nvSpPr>
          <p:cNvPr id="65" name="TextBox 65"/>
          <p:cNvSpPr txBox="1"/>
          <p:nvPr/>
        </p:nvSpPr>
        <p:spPr>
          <a:xfrm>
            <a:off x="8423510" y="5620811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 err="1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AuditLog</a:t>
            </a:r>
            <a:endParaRPr lang="en-US" sz="1600" b="1" dirty="0">
              <a:solidFill>
                <a:srgbClr val="111827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(Immutable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Audit Trail)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0286688" y="5484220"/>
            <a:ext cx="1713402" cy="974986"/>
            <a:chOff x="0" y="0"/>
            <a:chExt cx="2221700" cy="92074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2221611" cy="920646"/>
            </a:xfrm>
            <a:custGeom>
              <a:avLst/>
              <a:gdLst/>
              <a:ahLst/>
              <a:cxnLst/>
              <a:rect l="l" t="t" r="r" b="b"/>
              <a:pathLst>
                <a:path w="2221611" h="920646">
                  <a:moveTo>
                    <a:pt x="0" y="73633"/>
                  </a:moveTo>
                  <a:cubicBezTo>
                    <a:pt x="0" y="32970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2970"/>
                    <a:pt x="2221611" y="73633"/>
                  </a:cubicBezTo>
                  <a:lnTo>
                    <a:pt x="2221611" y="847013"/>
                  </a:lnTo>
                  <a:cubicBezTo>
                    <a:pt x="2221611" y="887676"/>
                    <a:pt x="2168271" y="920646"/>
                    <a:pt x="2102485" y="920646"/>
                  </a:cubicBezTo>
                  <a:lnTo>
                    <a:pt x="119126" y="920646"/>
                  </a:lnTo>
                  <a:cubicBezTo>
                    <a:pt x="53340" y="920646"/>
                    <a:pt x="0" y="887676"/>
                    <a:pt x="0" y="847013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15803D"/>
              </a:solidFill>
              <a:prstDash val="solid"/>
              <a:miter/>
            </a:ln>
          </p:spPr>
        </p:sp>
      </p:grpSp>
      <p:sp>
        <p:nvSpPr>
          <p:cNvPr id="68" name="TextBox 68"/>
          <p:cNvSpPr txBox="1"/>
          <p:nvPr/>
        </p:nvSpPr>
        <p:spPr>
          <a:xfrm>
            <a:off x="10271553" y="5629325"/>
            <a:ext cx="1693794" cy="872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 err="1">
                <a:solidFill>
                  <a:srgbClr val="111827"/>
                </a:solidFill>
                <a:latin typeface="Times New Roman Bold"/>
                <a:cs typeface="Times New Roman Bold"/>
              </a:rPr>
              <a:t>CancelPending</a:t>
            </a:r>
            <a:r>
              <a:rPr lang="en-US" sz="1600" b="1" dirty="0">
                <a:solidFill>
                  <a:srgbClr val="111827"/>
                </a:solidFill>
                <a:latin typeface="Times New Roman Bold"/>
                <a:cs typeface="Times New Roman Bold"/>
              </a:rPr>
              <a:t> Grant (Time-Locked Cancellation)</a:t>
            </a:r>
            <a:endParaRPr lang="en-US" sz="1600" b="1" dirty="0">
              <a:solidFill>
                <a:srgbClr val="111827"/>
              </a:solidFill>
              <a:latin typeface="Times New Roman Bold"/>
              <a:cs typeface="Times New Roman Bold"/>
              <a:sym typeface="Times New Roman Bold"/>
            </a:endParaRPr>
          </a:p>
        </p:txBody>
      </p:sp>
      <p:sp>
        <p:nvSpPr>
          <p:cNvPr id="69" name="TextBox 69"/>
          <p:cNvSpPr txBox="1"/>
          <p:nvPr/>
        </p:nvSpPr>
        <p:spPr>
          <a:xfrm>
            <a:off x="12535991" y="4910604"/>
            <a:ext cx="2211487" cy="293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21"/>
              </a:lnSpc>
            </a:pPr>
            <a:r>
              <a:rPr lang="en-US" sz="2000" b="1" dirty="0">
                <a:solidFill>
                  <a:srgbClr val="0B6A3A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Layer Function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2441964" y="5244691"/>
            <a:ext cx="2399539" cy="12182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lang="en-US" sz="2000" dirty="0">
                <a:solidFill>
                  <a:srgbClr val="11182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Enforces consent, access control and accountability with privacy-preserving mechanisms</a:t>
            </a:r>
            <a:r>
              <a:rPr lang="en-US" dirty="0">
                <a:solidFill>
                  <a:srgbClr val="11182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</p:txBody>
      </p:sp>
      <p:sp>
        <p:nvSpPr>
          <p:cNvPr id="71" name="AutoShape 71"/>
          <p:cNvSpPr/>
          <p:nvPr/>
        </p:nvSpPr>
        <p:spPr>
          <a:xfrm>
            <a:off x="7086600" y="6544931"/>
            <a:ext cx="0" cy="506971"/>
          </a:xfrm>
          <a:prstGeom prst="line">
            <a:avLst/>
          </a:prstGeom>
          <a:ln w="38100" cap="rnd">
            <a:solidFill>
              <a:srgbClr val="111827"/>
            </a:solidFill>
            <a:prstDash val="solid"/>
            <a:headEnd type="triangle" w="lg" len="med"/>
            <a:tailEnd type="triangle" w="lg" len="med"/>
          </a:ln>
        </p:spPr>
      </p:sp>
      <p:grpSp>
        <p:nvGrpSpPr>
          <p:cNvPr id="72" name="Group 72"/>
          <p:cNvGrpSpPr/>
          <p:nvPr/>
        </p:nvGrpSpPr>
        <p:grpSpPr>
          <a:xfrm>
            <a:off x="76676" y="7051902"/>
            <a:ext cx="14850117" cy="1793775"/>
            <a:chOff x="0" y="0"/>
            <a:chExt cx="19255550" cy="2325916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19255485" cy="2325878"/>
            </a:xfrm>
            <a:custGeom>
              <a:avLst/>
              <a:gdLst/>
              <a:ahLst/>
              <a:cxnLst/>
              <a:rect l="l" t="t" r="r" b="b"/>
              <a:pathLst>
                <a:path w="19255485" h="2325878">
                  <a:moveTo>
                    <a:pt x="0" y="69723"/>
                  </a:moveTo>
                  <a:cubicBezTo>
                    <a:pt x="0" y="31242"/>
                    <a:pt x="31242" y="0"/>
                    <a:pt x="69723" y="0"/>
                  </a:cubicBezTo>
                  <a:lnTo>
                    <a:pt x="19185762" y="0"/>
                  </a:lnTo>
                  <a:cubicBezTo>
                    <a:pt x="19224244" y="0"/>
                    <a:pt x="19255485" y="31242"/>
                    <a:pt x="19255485" y="69723"/>
                  </a:cubicBezTo>
                  <a:lnTo>
                    <a:pt x="19255485" y="2256155"/>
                  </a:lnTo>
                  <a:cubicBezTo>
                    <a:pt x="19255485" y="2294636"/>
                    <a:pt x="19224244" y="2325878"/>
                    <a:pt x="19185762" y="2325878"/>
                  </a:cubicBezTo>
                  <a:lnTo>
                    <a:pt x="69723" y="2325878"/>
                  </a:lnTo>
                  <a:cubicBezTo>
                    <a:pt x="31242" y="2325878"/>
                    <a:pt x="0" y="2294636"/>
                    <a:pt x="0" y="2256155"/>
                  </a:cubicBezTo>
                  <a:close/>
                </a:path>
              </a:pathLst>
            </a:custGeom>
            <a:solidFill>
              <a:srgbClr val="FFFFFF"/>
            </a:solidFill>
            <a:ln w="28597" cap="sq">
              <a:solidFill>
                <a:srgbClr val="6B21A8"/>
              </a:solidFill>
              <a:prstDash val="solid"/>
              <a:miter/>
            </a:ln>
          </p:spPr>
        </p:sp>
      </p:grpSp>
      <p:grpSp>
        <p:nvGrpSpPr>
          <p:cNvPr id="74" name="Group 74"/>
          <p:cNvGrpSpPr/>
          <p:nvPr/>
        </p:nvGrpSpPr>
        <p:grpSpPr>
          <a:xfrm>
            <a:off x="91377" y="7094597"/>
            <a:ext cx="2540696" cy="1764372"/>
            <a:chOff x="0" y="0"/>
            <a:chExt cx="3294418" cy="2287791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3294380" cy="2287778"/>
            </a:xfrm>
            <a:custGeom>
              <a:avLst/>
              <a:gdLst/>
              <a:ahLst/>
              <a:cxnLst/>
              <a:rect l="l" t="t" r="r" b="b"/>
              <a:pathLst>
                <a:path w="3294380" h="2287778">
                  <a:moveTo>
                    <a:pt x="0" y="0"/>
                  </a:moveTo>
                  <a:lnTo>
                    <a:pt x="3294380" y="0"/>
                  </a:lnTo>
                  <a:lnTo>
                    <a:pt x="3294380" y="2287778"/>
                  </a:lnTo>
                  <a:lnTo>
                    <a:pt x="0" y="2287778"/>
                  </a:lnTo>
                  <a:close/>
                </a:path>
              </a:pathLst>
            </a:custGeom>
            <a:solidFill>
              <a:srgbClr val="5E1F8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76" name="TextBox 76"/>
          <p:cNvSpPr txBox="1"/>
          <p:nvPr/>
        </p:nvSpPr>
        <p:spPr>
          <a:xfrm>
            <a:off x="185404" y="7522418"/>
            <a:ext cx="2352643" cy="897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LAYER 4</a:t>
            </a:r>
          </a:p>
          <a:p>
            <a:pPr algn="ctr">
              <a:lnSpc>
                <a:spcPts val="222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Blockchain and</a:t>
            </a:r>
          </a:p>
          <a:p>
            <a:pPr algn="ctr">
              <a:lnSpc>
                <a:spcPts val="2221"/>
              </a:lnSpc>
            </a:pPr>
            <a:r>
              <a:rPr lang="en-US" sz="24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Off-chain Storage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2773220" y="7118577"/>
            <a:ext cx="9226870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0"/>
              </a:lnSpc>
            </a:pPr>
            <a:r>
              <a:rPr lang="en-US" sz="2000" b="1" dirty="0">
                <a:solidFill>
                  <a:srgbClr val="5E1F8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Provides immutable storage, transparency, and data integrity using blockchain and secure off-chain storage mechanisms</a:t>
            </a:r>
            <a:r>
              <a:rPr lang="en-US" sz="2000" b="1" dirty="0">
                <a:solidFill>
                  <a:srgbClr val="6B21A8"/>
                </a:solidFill>
                <a:latin typeface="Times New Roman" panose="02020603050405020304" pitchFamily="18" charset="0"/>
                <a:ea typeface="Times New Roman Bold"/>
                <a:cs typeface="Times New Roman" panose="02020603050405020304" pitchFamily="18" charset="0"/>
                <a:sym typeface="Times New Roman Bold"/>
              </a:rPr>
              <a:t>.</a:t>
            </a:r>
          </a:p>
        </p:txBody>
      </p:sp>
      <p:grpSp>
        <p:nvGrpSpPr>
          <p:cNvPr id="78" name="Group 78"/>
          <p:cNvGrpSpPr/>
          <p:nvPr/>
        </p:nvGrpSpPr>
        <p:grpSpPr>
          <a:xfrm>
            <a:off x="2833995" y="7734925"/>
            <a:ext cx="1713402" cy="1006805"/>
            <a:chOff x="0" y="0"/>
            <a:chExt cx="2221700" cy="918170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2221611" cy="918076"/>
            </a:xfrm>
            <a:custGeom>
              <a:avLst/>
              <a:gdLst/>
              <a:ahLst/>
              <a:cxnLst/>
              <a:rect l="l" t="t" r="r" b="b"/>
              <a:pathLst>
                <a:path w="2221611" h="918076">
                  <a:moveTo>
                    <a:pt x="0" y="73427"/>
                  </a:moveTo>
                  <a:cubicBezTo>
                    <a:pt x="0" y="32878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2878"/>
                    <a:pt x="2221611" y="73427"/>
                  </a:cubicBezTo>
                  <a:lnTo>
                    <a:pt x="2221611" y="844649"/>
                  </a:lnTo>
                  <a:cubicBezTo>
                    <a:pt x="2221611" y="885198"/>
                    <a:pt x="2168271" y="918076"/>
                    <a:pt x="2102485" y="918076"/>
                  </a:cubicBezTo>
                  <a:lnTo>
                    <a:pt x="119126" y="918076"/>
                  </a:lnTo>
                  <a:cubicBezTo>
                    <a:pt x="53340" y="918076"/>
                    <a:pt x="0" y="885198"/>
                    <a:pt x="0" y="844649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6B21A8"/>
              </a:solidFill>
              <a:prstDash val="solid"/>
              <a:miter/>
            </a:ln>
          </p:spPr>
        </p:sp>
      </p:grpSp>
      <p:sp>
        <p:nvSpPr>
          <p:cNvPr id="80" name="TextBox 80"/>
          <p:cNvSpPr txBox="1"/>
          <p:nvPr/>
        </p:nvSpPr>
        <p:spPr>
          <a:xfrm>
            <a:off x="2748755" y="7886700"/>
            <a:ext cx="1788828" cy="654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Consortium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Blockchain</a:t>
            </a:r>
          </a:p>
          <a:p>
            <a:pPr algn="ctr">
              <a:lnSpc>
                <a:spcPts val="1727"/>
              </a:lnSpc>
            </a:pPr>
            <a:endParaRPr lang="en-US" sz="1600" b="1" dirty="0">
              <a:solidFill>
                <a:srgbClr val="111827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grpSp>
        <p:nvGrpSpPr>
          <p:cNvPr id="81" name="Group 81"/>
          <p:cNvGrpSpPr/>
          <p:nvPr/>
        </p:nvGrpSpPr>
        <p:grpSpPr>
          <a:xfrm>
            <a:off x="4697163" y="7764474"/>
            <a:ext cx="1713402" cy="977256"/>
            <a:chOff x="0" y="0"/>
            <a:chExt cx="2221700" cy="891222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2221611" cy="891131"/>
            </a:xfrm>
            <a:custGeom>
              <a:avLst/>
              <a:gdLst/>
              <a:ahLst/>
              <a:cxnLst/>
              <a:rect l="l" t="t" r="r" b="b"/>
              <a:pathLst>
                <a:path w="2221611" h="891131">
                  <a:moveTo>
                    <a:pt x="0" y="71272"/>
                  </a:moveTo>
                  <a:cubicBezTo>
                    <a:pt x="0" y="31913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1913"/>
                    <a:pt x="2221611" y="71272"/>
                  </a:cubicBezTo>
                  <a:lnTo>
                    <a:pt x="2221611" y="819859"/>
                  </a:lnTo>
                  <a:cubicBezTo>
                    <a:pt x="2221611" y="859218"/>
                    <a:pt x="2168271" y="891131"/>
                    <a:pt x="2102485" y="891131"/>
                  </a:cubicBezTo>
                  <a:lnTo>
                    <a:pt x="119126" y="891131"/>
                  </a:lnTo>
                  <a:cubicBezTo>
                    <a:pt x="53340" y="891131"/>
                    <a:pt x="0" y="859218"/>
                    <a:pt x="0" y="819859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6B21A8"/>
              </a:solidFill>
              <a:prstDash val="solid"/>
              <a:miter/>
            </a:ln>
          </p:spPr>
        </p:sp>
      </p:grpSp>
      <p:sp>
        <p:nvSpPr>
          <p:cNvPr id="83" name="TextBox 83"/>
          <p:cNvSpPr txBox="1"/>
          <p:nvPr/>
        </p:nvSpPr>
        <p:spPr>
          <a:xfrm>
            <a:off x="4706967" y="7907020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On-chain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Hash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Verification</a:t>
            </a:r>
          </a:p>
        </p:txBody>
      </p:sp>
      <p:grpSp>
        <p:nvGrpSpPr>
          <p:cNvPr id="84" name="Group 84"/>
          <p:cNvGrpSpPr/>
          <p:nvPr/>
        </p:nvGrpSpPr>
        <p:grpSpPr>
          <a:xfrm>
            <a:off x="6560341" y="7764474"/>
            <a:ext cx="1713402" cy="977256"/>
            <a:chOff x="0" y="0"/>
            <a:chExt cx="2221700" cy="891222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2221611" cy="891131"/>
            </a:xfrm>
            <a:custGeom>
              <a:avLst/>
              <a:gdLst/>
              <a:ahLst/>
              <a:cxnLst/>
              <a:rect l="l" t="t" r="r" b="b"/>
              <a:pathLst>
                <a:path w="2221611" h="891131">
                  <a:moveTo>
                    <a:pt x="0" y="71272"/>
                  </a:moveTo>
                  <a:cubicBezTo>
                    <a:pt x="0" y="31913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1913"/>
                    <a:pt x="2221611" y="71272"/>
                  </a:cubicBezTo>
                  <a:lnTo>
                    <a:pt x="2221611" y="819859"/>
                  </a:lnTo>
                  <a:cubicBezTo>
                    <a:pt x="2221611" y="859218"/>
                    <a:pt x="2168271" y="891131"/>
                    <a:pt x="2102485" y="891131"/>
                  </a:cubicBezTo>
                  <a:lnTo>
                    <a:pt x="119126" y="891131"/>
                  </a:lnTo>
                  <a:cubicBezTo>
                    <a:pt x="53340" y="891131"/>
                    <a:pt x="0" y="859218"/>
                    <a:pt x="0" y="819859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6B21A8"/>
              </a:solidFill>
              <a:prstDash val="solid"/>
              <a:miter/>
            </a:ln>
          </p:spPr>
        </p:sp>
      </p:grpSp>
      <p:sp>
        <p:nvSpPr>
          <p:cNvPr id="86" name="TextBox 86"/>
          <p:cNvSpPr txBox="1"/>
          <p:nvPr/>
        </p:nvSpPr>
        <p:spPr>
          <a:xfrm>
            <a:off x="6570145" y="7962900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IPFS  Off-chain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Encrypted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Storage</a:t>
            </a:r>
          </a:p>
        </p:txBody>
      </p:sp>
      <p:grpSp>
        <p:nvGrpSpPr>
          <p:cNvPr id="87" name="Group 87"/>
          <p:cNvGrpSpPr/>
          <p:nvPr/>
        </p:nvGrpSpPr>
        <p:grpSpPr>
          <a:xfrm>
            <a:off x="8423510" y="7764474"/>
            <a:ext cx="1713402" cy="977256"/>
            <a:chOff x="0" y="0"/>
            <a:chExt cx="2221700" cy="891222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2221611" cy="891131"/>
            </a:xfrm>
            <a:custGeom>
              <a:avLst/>
              <a:gdLst/>
              <a:ahLst/>
              <a:cxnLst/>
              <a:rect l="l" t="t" r="r" b="b"/>
              <a:pathLst>
                <a:path w="2221611" h="891131">
                  <a:moveTo>
                    <a:pt x="0" y="71272"/>
                  </a:moveTo>
                  <a:cubicBezTo>
                    <a:pt x="0" y="31913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1913"/>
                    <a:pt x="2221611" y="71272"/>
                  </a:cubicBezTo>
                  <a:lnTo>
                    <a:pt x="2221611" y="819859"/>
                  </a:lnTo>
                  <a:cubicBezTo>
                    <a:pt x="2221611" y="859218"/>
                    <a:pt x="2168271" y="891131"/>
                    <a:pt x="2102485" y="891131"/>
                  </a:cubicBezTo>
                  <a:lnTo>
                    <a:pt x="119126" y="891131"/>
                  </a:lnTo>
                  <a:cubicBezTo>
                    <a:pt x="53340" y="891131"/>
                    <a:pt x="0" y="859218"/>
                    <a:pt x="0" y="819859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6B21A8"/>
              </a:solidFill>
              <a:prstDash val="solid"/>
              <a:miter/>
            </a:ln>
          </p:spPr>
        </p:sp>
      </p:grpSp>
      <p:sp>
        <p:nvSpPr>
          <p:cNvPr id="89" name="TextBox 89"/>
          <p:cNvSpPr txBox="1"/>
          <p:nvPr/>
        </p:nvSpPr>
        <p:spPr>
          <a:xfrm>
            <a:off x="8433314" y="7962900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On-Chain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Audit Log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Storage</a:t>
            </a:r>
          </a:p>
        </p:txBody>
      </p:sp>
      <p:grpSp>
        <p:nvGrpSpPr>
          <p:cNvPr id="90" name="Group 90"/>
          <p:cNvGrpSpPr/>
          <p:nvPr/>
        </p:nvGrpSpPr>
        <p:grpSpPr>
          <a:xfrm>
            <a:off x="10286688" y="7734925"/>
            <a:ext cx="1713402" cy="1006806"/>
            <a:chOff x="0" y="0"/>
            <a:chExt cx="2221700" cy="856417"/>
          </a:xfrm>
        </p:grpSpPr>
        <p:sp>
          <p:nvSpPr>
            <p:cNvPr id="91" name="Freeform 91"/>
            <p:cNvSpPr/>
            <p:nvPr/>
          </p:nvSpPr>
          <p:spPr>
            <a:xfrm>
              <a:off x="0" y="0"/>
              <a:ext cx="2221611" cy="856329"/>
            </a:xfrm>
            <a:custGeom>
              <a:avLst/>
              <a:gdLst/>
              <a:ahLst/>
              <a:cxnLst/>
              <a:rect l="l" t="t" r="r" b="b"/>
              <a:pathLst>
                <a:path w="2221611" h="856329">
                  <a:moveTo>
                    <a:pt x="0" y="68489"/>
                  </a:moveTo>
                  <a:cubicBezTo>
                    <a:pt x="0" y="30667"/>
                    <a:pt x="53340" y="0"/>
                    <a:pt x="119126" y="0"/>
                  </a:cubicBezTo>
                  <a:lnTo>
                    <a:pt x="2102485" y="0"/>
                  </a:lnTo>
                  <a:cubicBezTo>
                    <a:pt x="2168271" y="0"/>
                    <a:pt x="2221611" y="30667"/>
                    <a:pt x="2221611" y="68489"/>
                  </a:cubicBezTo>
                  <a:lnTo>
                    <a:pt x="2221611" y="787840"/>
                  </a:lnTo>
                  <a:cubicBezTo>
                    <a:pt x="2221611" y="825663"/>
                    <a:pt x="2168271" y="856329"/>
                    <a:pt x="2102485" y="856329"/>
                  </a:cubicBezTo>
                  <a:lnTo>
                    <a:pt x="119126" y="856329"/>
                  </a:lnTo>
                  <a:cubicBezTo>
                    <a:pt x="53340" y="856329"/>
                    <a:pt x="0" y="825663"/>
                    <a:pt x="0" y="787840"/>
                  </a:cubicBezTo>
                  <a:close/>
                </a:path>
              </a:pathLst>
            </a:custGeom>
            <a:solidFill>
              <a:srgbClr val="FFFFFF"/>
            </a:solidFill>
            <a:ln w="19065" cap="sq">
              <a:solidFill>
                <a:srgbClr val="6B21A8"/>
              </a:solidFill>
              <a:prstDash val="solid"/>
              <a:miter/>
            </a:ln>
          </p:spPr>
        </p:sp>
      </p:grpSp>
      <p:sp>
        <p:nvSpPr>
          <p:cNvPr id="92" name="TextBox 92"/>
          <p:cNvSpPr txBox="1"/>
          <p:nvPr/>
        </p:nvSpPr>
        <p:spPr>
          <a:xfrm>
            <a:off x="10296492" y="7962900"/>
            <a:ext cx="1693794" cy="66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Immutable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On-chain</a:t>
            </a:r>
          </a:p>
          <a:p>
            <a:pPr algn="ctr">
              <a:lnSpc>
                <a:spcPts val="1727"/>
              </a:lnSpc>
            </a:pPr>
            <a:r>
              <a:rPr lang="en-US" sz="1600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Records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12535991" y="7193128"/>
            <a:ext cx="2211487" cy="293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21"/>
              </a:lnSpc>
            </a:pPr>
            <a:r>
              <a:rPr lang="en-US" sz="2000" b="1" dirty="0">
                <a:solidFill>
                  <a:srgbClr val="5E1F8C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Layer Function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12303716" y="7527225"/>
            <a:ext cx="2537787" cy="12182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20"/>
              </a:lnSpc>
            </a:pPr>
            <a:r>
              <a:rPr lang="en-US" dirty="0">
                <a:solidFill>
                  <a:srgbClr val="11182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Guarantees tamper resistance, transparency and long-term integrity of healthcare data and transactions.</a:t>
            </a:r>
          </a:p>
        </p:txBody>
      </p:sp>
      <p:grpSp>
        <p:nvGrpSpPr>
          <p:cNvPr id="95" name="Group 95"/>
          <p:cNvGrpSpPr/>
          <p:nvPr/>
        </p:nvGrpSpPr>
        <p:grpSpPr>
          <a:xfrm>
            <a:off x="15179674" y="252479"/>
            <a:ext cx="2993550" cy="8593198"/>
            <a:chOff x="0" y="0"/>
            <a:chExt cx="3881615" cy="11142455"/>
          </a:xfrm>
        </p:grpSpPr>
        <p:sp>
          <p:nvSpPr>
            <p:cNvPr id="96" name="Freeform 96"/>
            <p:cNvSpPr/>
            <p:nvPr/>
          </p:nvSpPr>
          <p:spPr>
            <a:xfrm>
              <a:off x="0" y="0"/>
              <a:ext cx="3881628" cy="11142518"/>
            </a:xfrm>
            <a:custGeom>
              <a:avLst/>
              <a:gdLst/>
              <a:ahLst/>
              <a:cxnLst/>
              <a:rect l="l" t="t" r="r" b="b"/>
              <a:pathLst>
                <a:path w="3881628" h="11142518">
                  <a:moveTo>
                    <a:pt x="0" y="132010"/>
                  </a:moveTo>
                  <a:cubicBezTo>
                    <a:pt x="0" y="59167"/>
                    <a:pt x="52197" y="0"/>
                    <a:pt x="116459" y="0"/>
                  </a:cubicBezTo>
                  <a:lnTo>
                    <a:pt x="3765169" y="0"/>
                  </a:lnTo>
                  <a:cubicBezTo>
                    <a:pt x="3829431" y="0"/>
                    <a:pt x="3881628" y="59167"/>
                    <a:pt x="3881628" y="132010"/>
                  </a:cubicBezTo>
                  <a:lnTo>
                    <a:pt x="3881628" y="11010517"/>
                  </a:lnTo>
                  <a:cubicBezTo>
                    <a:pt x="3881628" y="11083360"/>
                    <a:pt x="3829431" y="11142518"/>
                    <a:pt x="3765169" y="11142518"/>
                  </a:cubicBezTo>
                  <a:lnTo>
                    <a:pt x="116459" y="11142518"/>
                  </a:lnTo>
                  <a:cubicBezTo>
                    <a:pt x="52197" y="11142383"/>
                    <a:pt x="0" y="11083360"/>
                    <a:pt x="0" y="11010517"/>
                  </a:cubicBezTo>
                  <a:close/>
                </a:path>
              </a:pathLst>
            </a:custGeom>
            <a:solidFill>
              <a:srgbClr val="F9FAFB"/>
            </a:solidFill>
            <a:ln w="28597" cap="sq">
              <a:solidFill>
                <a:srgbClr val="1E40AF"/>
              </a:solidFill>
              <a:prstDash val="sysDash"/>
              <a:miter/>
            </a:ln>
          </p:spPr>
        </p:sp>
      </p:grpSp>
      <p:sp>
        <p:nvSpPr>
          <p:cNvPr id="97" name="TextBox 97"/>
          <p:cNvSpPr txBox="1"/>
          <p:nvPr/>
        </p:nvSpPr>
        <p:spPr>
          <a:xfrm>
            <a:off x="15288402" y="345737"/>
            <a:ext cx="2799542" cy="694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59"/>
              </a:lnSpc>
            </a:pPr>
            <a:r>
              <a:rPr lang="en-US" sz="20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Cross-Cutting  Security and</a:t>
            </a:r>
          </a:p>
          <a:p>
            <a:pPr algn="ctr">
              <a:lnSpc>
                <a:spcPts val="1759"/>
              </a:lnSpc>
            </a:pPr>
            <a:r>
              <a:rPr lang="en-US" sz="2000" b="1" dirty="0">
                <a:solidFill>
                  <a:srgbClr val="004B9E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Times New Roman Bold"/>
              </a:rPr>
              <a:t>Governance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5469718" y="1136100"/>
            <a:ext cx="2618226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End-to-End Security and Privacy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5469718" y="2178968"/>
            <a:ext cx="2046666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Role-Based Access Control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5364943" y="3399277"/>
            <a:ext cx="2618226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Policies, Compliance and  Regulatory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15379060" y="4765747"/>
            <a:ext cx="2799542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Independent Security Audit and Penetration Testing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5336058" y="6217482"/>
            <a:ext cx="2799542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9"/>
              </a:lnSpc>
            </a:pPr>
            <a:r>
              <a:rPr lang="en-US" b="1" dirty="0">
                <a:solidFill>
                  <a:srgbClr val="11182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Three-Stage Compliance Decision Process</a:t>
            </a:r>
          </a:p>
        </p:txBody>
      </p:sp>
      <p:sp>
        <p:nvSpPr>
          <p:cNvPr id="103" name="AutoShape 103"/>
          <p:cNvSpPr/>
          <p:nvPr/>
        </p:nvSpPr>
        <p:spPr>
          <a:xfrm>
            <a:off x="7120725" y="1924954"/>
            <a:ext cx="0" cy="506971"/>
          </a:xfrm>
          <a:prstGeom prst="line">
            <a:avLst/>
          </a:prstGeom>
          <a:ln w="38100" cap="rnd">
            <a:solidFill>
              <a:srgbClr val="111827"/>
            </a:solidFill>
            <a:prstDash val="solid"/>
            <a:headEnd type="triangle" w="lg" len="med"/>
            <a:tailEnd type="triangle" w="lg" len="med"/>
          </a:ln>
        </p:spPr>
      </p:sp>
      <p:sp>
        <p:nvSpPr>
          <p:cNvPr id="104" name="AutoShape 104"/>
          <p:cNvSpPr/>
          <p:nvPr/>
        </p:nvSpPr>
        <p:spPr>
          <a:xfrm>
            <a:off x="7101675" y="4225164"/>
            <a:ext cx="0" cy="506971"/>
          </a:xfrm>
          <a:prstGeom prst="line">
            <a:avLst/>
          </a:prstGeom>
          <a:ln w="38100" cap="rnd">
            <a:solidFill>
              <a:srgbClr val="111827"/>
            </a:solidFill>
            <a:prstDash val="solid"/>
            <a:headEnd type="triangle" w="lg" len="med"/>
            <a:tailEnd type="triangle" w="lg" len="me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280</Words>
  <Application>Microsoft Office PowerPoint</Application>
  <PresentationFormat>Custom</PresentationFormat>
  <Paragraphs>83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Times New Roman</vt:lpstr>
      <vt:lpstr>Arial</vt:lpstr>
      <vt:lpstr>Times New Roman Bold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4.pptx</dc:title>
  <cp:lastModifiedBy>user</cp:lastModifiedBy>
  <cp:revision>9</cp:revision>
  <dcterms:created xsi:type="dcterms:W3CDTF">2006-08-16T00:00:00Z</dcterms:created>
  <dcterms:modified xsi:type="dcterms:W3CDTF">2026-07-13T14:23:57Z</dcterms:modified>
  <dc:identifier>DAHOUWpnAAI</dc:identifier>
</cp:coreProperties>
</file>