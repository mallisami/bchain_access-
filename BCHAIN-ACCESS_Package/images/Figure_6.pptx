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8288000" cy="10287000"/>
  <p:notesSz cx="6858000" cy="9144000"/>
  <p:embeddedFontLst>
    <p:embeddedFont>
      <p:font typeface="Times New Roman Bold" panose="02020803070505020304" pitchFamily="18" charset="0"/>
      <p:regular r:id="rId3"/>
      <p:bold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5" d="100"/>
          <a:sy n="55" d="100"/>
        </p:scale>
        <p:origin x="276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04364" y="114300"/>
            <a:ext cx="5082036" cy="7543800"/>
            <a:chOff x="0" y="0"/>
            <a:chExt cx="6809981" cy="87584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809994" cy="8758524"/>
            </a:xfrm>
            <a:custGeom>
              <a:avLst/>
              <a:gdLst/>
              <a:ahLst/>
              <a:cxnLst/>
              <a:rect l="l" t="t" r="r" b="b"/>
              <a:pathLst>
                <a:path w="6809994" h="8758524">
                  <a:moveTo>
                    <a:pt x="0" y="254574"/>
                  </a:moveTo>
                  <a:cubicBezTo>
                    <a:pt x="0" y="113935"/>
                    <a:pt x="121920" y="0"/>
                    <a:pt x="272415" y="0"/>
                  </a:cubicBezTo>
                  <a:lnTo>
                    <a:pt x="6537579" y="0"/>
                  </a:lnTo>
                  <a:cubicBezTo>
                    <a:pt x="6688074" y="0"/>
                    <a:pt x="6809994" y="113935"/>
                    <a:pt x="6809994" y="254574"/>
                  </a:cubicBezTo>
                  <a:lnTo>
                    <a:pt x="6809994" y="8503947"/>
                  </a:lnTo>
                  <a:cubicBezTo>
                    <a:pt x="6809994" y="8644586"/>
                    <a:pt x="6688074" y="8758524"/>
                    <a:pt x="6537579" y="8758524"/>
                  </a:cubicBezTo>
                  <a:lnTo>
                    <a:pt x="272415" y="8758524"/>
                  </a:lnTo>
                  <a:cubicBezTo>
                    <a:pt x="121920" y="8758523"/>
                    <a:pt x="0" y="8644467"/>
                    <a:pt x="0" y="8503947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15803D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381000" y="83493"/>
            <a:ext cx="5085312" cy="960872"/>
            <a:chOff x="0" y="0"/>
            <a:chExt cx="6771856" cy="128116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771894" cy="1281176"/>
            </a:xfrm>
            <a:custGeom>
              <a:avLst/>
              <a:gdLst/>
              <a:ahLst/>
              <a:cxnLst/>
              <a:rect l="l" t="t" r="r" b="b"/>
              <a:pathLst>
                <a:path w="6771894" h="1281176">
                  <a:moveTo>
                    <a:pt x="0" y="0"/>
                  </a:moveTo>
                  <a:lnTo>
                    <a:pt x="6771894" y="0"/>
                  </a:lnTo>
                  <a:lnTo>
                    <a:pt x="6771894" y="1281176"/>
                  </a:lnTo>
                  <a:lnTo>
                    <a:pt x="0" y="1281176"/>
                  </a:lnTo>
                  <a:close/>
                </a:path>
              </a:pathLst>
            </a:custGeom>
            <a:solidFill>
              <a:srgbClr val="0B6A3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6" name="TextBox 6"/>
          <p:cNvSpPr txBox="1"/>
          <p:nvPr/>
        </p:nvSpPr>
        <p:spPr>
          <a:xfrm>
            <a:off x="920740" y="325309"/>
            <a:ext cx="422783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1. GOOGLE LIGHTHOUSE</a:t>
            </a:r>
          </a:p>
          <a:p>
            <a:pPr algn="ctr">
              <a:lnSpc>
                <a:spcPts val="2160"/>
              </a:lnSpc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(Accessibility Audit)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635041" y="1309888"/>
            <a:ext cx="1058900" cy="1058903"/>
            <a:chOff x="0" y="0"/>
            <a:chExt cx="1827682" cy="182768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27784" cy="1827789"/>
            </a:xfrm>
            <a:custGeom>
              <a:avLst/>
              <a:gdLst/>
              <a:ahLst/>
              <a:cxnLst/>
              <a:rect l="l" t="t" r="r" b="b"/>
              <a:pathLst>
                <a:path w="1827784" h="1827789">
                  <a:moveTo>
                    <a:pt x="0" y="913895"/>
                  </a:moveTo>
                  <a:cubicBezTo>
                    <a:pt x="0" y="409195"/>
                    <a:pt x="409194" y="0"/>
                    <a:pt x="913892" y="0"/>
                  </a:cubicBezTo>
                  <a:cubicBezTo>
                    <a:pt x="1418590" y="0"/>
                    <a:pt x="1827784" y="409195"/>
                    <a:pt x="1827784" y="913895"/>
                  </a:cubicBezTo>
                  <a:cubicBezTo>
                    <a:pt x="1827784" y="1418594"/>
                    <a:pt x="1418590" y="1827789"/>
                    <a:pt x="913892" y="1827789"/>
                  </a:cubicBezTo>
                  <a:cubicBezTo>
                    <a:pt x="409194" y="1827789"/>
                    <a:pt x="0" y="1418594"/>
                    <a:pt x="0" y="913895"/>
                  </a:cubicBezTo>
                  <a:close/>
                </a:path>
              </a:pathLst>
            </a:custGeom>
            <a:solidFill>
              <a:srgbClr val="FFFFFF"/>
            </a:solidFill>
            <a:ln w="66727" cap="sq">
              <a:solidFill>
                <a:srgbClr val="15803D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1827682" cy="18467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1"/>
                </a:lnSpc>
              </a:pPr>
              <a:r>
                <a:rPr lang="en-US" b="1" dirty="0">
                  <a:solidFill>
                    <a:srgbClr val="111827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100/100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178348" y="1529229"/>
            <a:ext cx="3225784" cy="73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b="1" dirty="0">
                <a:solidFill>
                  <a:srgbClr val="4B556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Overall Accessibility Score</a:t>
            </a:r>
          </a:p>
          <a:p>
            <a:pPr algn="l">
              <a:lnSpc>
                <a:spcPts val="1919"/>
              </a:lnSpc>
            </a:pPr>
            <a:r>
              <a:rPr lang="en-US" b="1" dirty="0">
                <a:solidFill>
                  <a:srgbClr val="15803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No failed audits; composite 100/100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724266" y="2692437"/>
            <a:ext cx="4686205" cy="1597628"/>
            <a:chOff x="0" y="203213"/>
            <a:chExt cx="6248273" cy="2130171"/>
          </a:xfrm>
        </p:grpSpPr>
        <p:sp>
          <p:nvSpPr>
            <p:cNvPr id="12" name="Freeform 12"/>
            <p:cNvSpPr/>
            <p:nvPr/>
          </p:nvSpPr>
          <p:spPr>
            <a:xfrm>
              <a:off x="0" y="203213"/>
              <a:ext cx="6248273" cy="2130171"/>
            </a:xfrm>
            <a:custGeom>
              <a:avLst/>
              <a:gdLst/>
              <a:ahLst/>
              <a:cxnLst/>
              <a:rect l="l" t="t" r="r" b="b"/>
              <a:pathLst>
                <a:path w="6248273" h="2130171">
                  <a:moveTo>
                    <a:pt x="0" y="106553"/>
                  </a:moveTo>
                  <a:cubicBezTo>
                    <a:pt x="0" y="47625"/>
                    <a:pt x="47625" y="0"/>
                    <a:pt x="106553" y="0"/>
                  </a:cubicBezTo>
                  <a:lnTo>
                    <a:pt x="6141720" y="0"/>
                  </a:lnTo>
                  <a:cubicBezTo>
                    <a:pt x="6200521" y="0"/>
                    <a:pt x="6248273" y="47625"/>
                    <a:pt x="6248273" y="106553"/>
                  </a:cubicBezTo>
                  <a:lnTo>
                    <a:pt x="6248273" y="2023618"/>
                  </a:lnTo>
                  <a:cubicBezTo>
                    <a:pt x="6248273" y="2082419"/>
                    <a:pt x="6200648" y="2130171"/>
                    <a:pt x="6141720" y="2130171"/>
                  </a:cubicBezTo>
                  <a:lnTo>
                    <a:pt x="106553" y="2130171"/>
                  </a:lnTo>
                  <a:cubicBezTo>
                    <a:pt x="47752" y="2130171"/>
                    <a:pt x="0" y="2082546"/>
                    <a:pt x="0" y="2023618"/>
                  </a:cubicBezTo>
                  <a:close/>
                </a:path>
              </a:pathLst>
            </a:custGeom>
            <a:solidFill>
              <a:srgbClr val="F9FAFB"/>
            </a:solidFill>
            <a:ln w="19065" cap="sq">
              <a:solidFill>
                <a:srgbClr val="E5E7EB"/>
              </a:solidFill>
              <a:prstDash val="solid"/>
              <a:miter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1828800" y="2766244"/>
            <a:ext cx="3034074" cy="243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b="1" dirty="0">
                <a:solidFill>
                  <a:srgbClr val="15803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LIGHTHOUSE CHECKS (76)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876300" y="3055298"/>
            <a:ext cx="411804" cy="411802"/>
            <a:chOff x="0" y="0"/>
            <a:chExt cx="549072" cy="54906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49021" cy="549018"/>
            </a:xfrm>
            <a:custGeom>
              <a:avLst/>
              <a:gdLst/>
              <a:ahLst/>
              <a:cxnLst/>
              <a:rect l="l" t="t" r="r" b="b"/>
              <a:pathLst>
                <a:path w="549021" h="549018">
                  <a:moveTo>
                    <a:pt x="0" y="274573"/>
                  </a:moveTo>
                  <a:cubicBezTo>
                    <a:pt x="0" y="122935"/>
                    <a:pt x="122936" y="0"/>
                    <a:pt x="274574" y="0"/>
                  </a:cubicBezTo>
                  <a:cubicBezTo>
                    <a:pt x="426212" y="0"/>
                    <a:pt x="549021" y="122935"/>
                    <a:pt x="549021" y="274573"/>
                  </a:cubicBezTo>
                  <a:cubicBezTo>
                    <a:pt x="549021" y="426210"/>
                    <a:pt x="426212" y="549018"/>
                    <a:pt x="274574" y="549018"/>
                  </a:cubicBezTo>
                  <a:cubicBezTo>
                    <a:pt x="122936" y="549018"/>
                    <a:pt x="0" y="426210"/>
                    <a:pt x="0" y="274573"/>
                  </a:cubicBezTo>
                  <a:close/>
                </a:path>
              </a:pathLst>
            </a:custGeom>
            <a:solidFill>
              <a:srgbClr val="15803D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549072" cy="5681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41"/>
                </a:lnSpc>
              </a:pPr>
              <a:r>
                <a:rPr lang="en-US" sz="12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✓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876300" y="3652279"/>
            <a:ext cx="304800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b="1" dirty="0">
                <a:solidFill>
                  <a:srgbClr val="11182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12921" y="3909244"/>
            <a:ext cx="1235402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b="1">
                <a:solidFill>
                  <a:srgbClr val="4B556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Passed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2259301" y="3041009"/>
            <a:ext cx="411804" cy="426091"/>
            <a:chOff x="0" y="-19051"/>
            <a:chExt cx="549072" cy="56812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49021" cy="549018"/>
            </a:xfrm>
            <a:custGeom>
              <a:avLst/>
              <a:gdLst/>
              <a:ahLst/>
              <a:cxnLst/>
              <a:rect l="l" t="t" r="r" b="b"/>
              <a:pathLst>
                <a:path w="549021" h="549018">
                  <a:moveTo>
                    <a:pt x="0" y="274573"/>
                  </a:moveTo>
                  <a:cubicBezTo>
                    <a:pt x="0" y="122935"/>
                    <a:pt x="122936" y="0"/>
                    <a:pt x="274574" y="0"/>
                  </a:cubicBezTo>
                  <a:cubicBezTo>
                    <a:pt x="426212" y="0"/>
                    <a:pt x="549021" y="122935"/>
                    <a:pt x="549021" y="274573"/>
                  </a:cubicBezTo>
                  <a:cubicBezTo>
                    <a:pt x="549021" y="426210"/>
                    <a:pt x="426212" y="549018"/>
                    <a:pt x="274574" y="549018"/>
                  </a:cubicBezTo>
                  <a:cubicBezTo>
                    <a:pt x="122936" y="549018"/>
                    <a:pt x="0" y="426210"/>
                    <a:pt x="0" y="274573"/>
                  </a:cubicBezTo>
                  <a:close/>
                </a:path>
              </a:pathLst>
            </a:custGeom>
            <a:solidFill>
              <a:srgbClr val="15803D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19051"/>
              <a:ext cx="549072" cy="5681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41"/>
                </a:lnSpc>
              </a:pPr>
              <a:r>
                <a:rPr lang="en-US" sz="1200" b="1" dirty="0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✓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2259301" y="3661594"/>
            <a:ext cx="304800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b="1">
                <a:solidFill>
                  <a:srgbClr val="11182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793996" y="3890404"/>
            <a:ext cx="1235402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b="1">
                <a:solidFill>
                  <a:srgbClr val="4B556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Failed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3610423" y="3055298"/>
            <a:ext cx="411804" cy="411802"/>
            <a:chOff x="0" y="0"/>
            <a:chExt cx="549072" cy="54906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49021" cy="549018"/>
            </a:xfrm>
            <a:custGeom>
              <a:avLst/>
              <a:gdLst/>
              <a:ahLst/>
              <a:cxnLst/>
              <a:rect l="l" t="t" r="r" b="b"/>
              <a:pathLst>
                <a:path w="549021" h="549018">
                  <a:moveTo>
                    <a:pt x="0" y="274573"/>
                  </a:moveTo>
                  <a:cubicBezTo>
                    <a:pt x="0" y="122935"/>
                    <a:pt x="122936" y="0"/>
                    <a:pt x="274574" y="0"/>
                  </a:cubicBezTo>
                  <a:cubicBezTo>
                    <a:pt x="426212" y="0"/>
                    <a:pt x="549021" y="122935"/>
                    <a:pt x="549021" y="274573"/>
                  </a:cubicBezTo>
                  <a:cubicBezTo>
                    <a:pt x="549021" y="426210"/>
                    <a:pt x="426212" y="549018"/>
                    <a:pt x="274574" y="549018"/>
                  </a:cubicBezTo>
                  <a:cubicBezTo>
                    <a:pt x="122936" y="549018"/>
                    <a:pt x="0" y="426210"/>
                    <a:pt x="0" y="274573"/>
                  </a:cubicBezTo>
                  <a:close/>
                </a:path>
              </a:pathLst>
            </a:custGeom>
            <a:solidFill>
              <a:srgbClr val="15803D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549072" cy="5681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41"/>
                </a:lnSpc>
              </a:pPr>
              <a:r>
                <a:rPr lang="en-US" sz="12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✓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3629473" y="3661594"/>
            <a:ext cx="304800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b="1">
                <a:solidFill>
                  <a:srgbClr val="11182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214402" y="3890404"/>
            <a:ext cx="1235402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b="1" dirty="0">
                <a:solidFill>
                  <a:srgbClr val="4B556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N/A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4680204" y="3055298"/>
            <a:ext cx="411804" cy="411802"/>
            <a:chOff x="0" y="0"/>
            <a:chExt cx="549072" cy="54906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49021" cy="549018"/>
            </a:xfrm>
            <a:custGeom>
              <a:avLst/>
              <a:gdLst/>
              <a:ahLst/>
              <a:cxnLst/>
              <a:rect l="l" t="t" r="r" b="b"/>
              <a:pathLst>
                <a:path w="549021" h="549018">
                  <a:moveTo>
                    <a:pt x="0" y="274573"/>
                  </a:moveTo>
                  <a:cubicBezTo>
                    <a:pt x="0" y="122935"/>
                    <a:pt x="122936" y="0"/>
                    <a:pt x="274574" y="0"/>
                  </a:cubicBezTo>
                  <a:cubicBezTo>
                    <a:pt x="426212" y="0"/>
                    <a:pt x="549021" y="122935"/>
                    <a:pt x="549021" y="274573"/>
                  </a:cubicBezTo>
                  <a:cubicBezTo>
                    <a:pt x="549021" y="426210"/>
                    <a:pt x="426212" y="549018"/>
                    <a:pt x="274574" y="549018"/>
                  </a:cubicBezTo>
                  <a:cubicBezTo>
                    <a:pt x="122936" y="549018"/>
                    <a:pt x="0" y="426210"/>
                    <a:pt x="0" y="274573"/>
                  </a:cubicBezTo>
                  <a:close/>
                </a:path>
              </a:pathLst>
            </a:custGeom>
            <a:solidFill>
              <a:srgbClr val="15803D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19050"/>
              <a:ext cx="549072" cy="5681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41"/>
                </a:lnSpc>
              </a:pPr>
              <a:r>
                <a:rPr lang="en-US" sz="12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✓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4711008" y="3661594"/>
            <a:ext cx="304800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b="1">
                <a:solidFill>
                  <a:srgbClr val="11182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10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230910" y="3890404"/>
            <a:ext cx="1235402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b="1" dirty="0">
                <a:solidFill>
                  <a:srgbClr val="4B556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Manual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27230" y="4545330"/>
            <a:ext cx="4776901" cy="16927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000" b="1" dirty="0">
                <a:solidFill>
                  <a:srgbClr val="15803D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HIGHLIGHTS</a:t>
            </a:r>
          </a:p>
          <a:p>
            <a:pPr algn="l"/>
            <a:r>
              <a:rPr lang="en-US" dirty="0">
                <a:solidFill>
                  <a:srgbClr val="111827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✓  All elements have sufficient color contrast</a:t>
            </a:r>
          </a:p>
          <a:p>
            <a:pPr algn="l"/>
            <a:r>
              <a:rPr lang="en-US" dirty="0">
                <a:solidFill>
                  <a:srgbClr val="111827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✓  All images include appropriate alternative text</a:t>
            </a:r>
          </a:p>
          <a:p>
            <a:pPr algn="l"/>
            <a:r>
              <a:rPr lang="en-US" dirty="0">
                <a:solidFill>
                  <a:srgbClr val="111827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✓  Semantic HTML structure and ARIA landmarks used</a:t>
            </a:r>
          </a:p>
          <a:p>
            <a:pPr algn="l"/>
            <a:r>
              <a:rPr lang="en-US" dirty="0">
                <a:solidFill>
                  <a:srgbClr val="111827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✓  All interactive elements are keyboard accessible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617696" y="6629048"/>
            <a:ext cx="4686110" cy="648052"/>
            <a:chOff x="0" y="37017"/>
            <a:chExt cx="6248146" cy="532789"/>
          </a:xfrm>
        </p:grpSpPr>
        <p:sp>
          <p:nvSpPr>
            <p:cNvPr id="36" name="Freeform 36"/>
            <p:cNvSpPr/>
            <p:nvPr/>
          </p:nvSpPr>
          <p:spPr>
            <a:xfrm>
              <a:off x="0" y="37017"/>
              <a:ext cx="6248146" cy="532789"/>
            </a:xfrm>
            <a:custGeom>
              <a:avLst/>
              <a:gdLst/>
              <a:ahLst/>
              <a:cxnLst/>
              <a:rect l="l" t="t" r="r" b="b"/>
              <a:pathLst>
                <a:path w="6248146" h="720852">
                  <a:moveTo>
                    <a:pt x="0" y="108077"/>
                  </a:moveTo>
                  <a:cubicBezTo>
                    <a:pt x="0" y="48387"/>
                    <a:pt x="48387" y="0"/>
                    <a:pt x="108077" y="0"/>
                  </a:cubicBezTo>
                  <a:lnTo>
                    <a:pt x="6140069" y="0"/>
                  </a:lnTo>
                  <a:cubicBezTo>
                    <a:pt x="6199759" y="0"/>
                    <a:pt x="6248146" y="48387"/>
                    <a:pt x="6248146" y="108077"/>
                  </a:cubicBezTo>
                  <a:lnTo>
                    <a:pt x="6248146" y="612775"/>
                  </a:lnTo>
                  <a:cubicBezTo>
                    <a:pt x="6248146" y="672465"/>
                    <a:pt x="6199759" y="720852"/>
                    <a:pt x="6140069" y="720852"/>
                  </a:cubicBezTo>
                  <a:lnTo>
                    <a:pt x="108077" y="720852"/>
                  </a:lnTo>
                  <a:cubicBezTo>
                    <a:pt x="48387" y="720852"/>
                    <a:pt x="0" y="672465"/>
                    <a:pt x="0" y="612775"/>
                  </a:cubicBezTo>
                  <a:close/>
                </a:path>
              </a:pathLst>
            </a:custGeom>
            <a:solidFill>
              <a:srgbClr val="F9FAFB"/>
            </a:solidFill>
            <a:ln w="19065" cap="sq">
              <a:solidFill>
                <a:srgbClr val="15803D"/>
              </a:solidFill>
              <a:prstDash val="solid"/>
              <a:miter/>
            </a:ln>
          </p:spPr>
        </p:sp>
      </p:grpSp>
      <p:sp>
        <p:nvSpPr>
          <p:cNvPr id="37" name="TextBox 37"/>
          <p:cNvSpPr txBox="1"/>
          <p:nvPr/>
        </p:nvSpPr>
        <p:spPr>
          <a:xfrm>
            <a:off x="866940" y="6842571"/>
            <a:ext cx="297551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2400" dirty="0">
                <a:solidFill>
                  <a:srgbClr val="15803D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🛡️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267739" y="6743700"/>
            <a:ext cx="3866502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b="1" dirty="0">
                <a:solidFill>
                  <a:srgbClr val="15803D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WCAG 2.1 LEVEL AA Compliance Achieved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5740928" y="179263"/>
            <a:ext cx="5122194" cy="7478837"/>
            <a:chOff x="0" y="0"/>
            <a:chExt cx="6675203" cy="8758524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6675203" cy="8758524"/>
            </a:xfrm>
            <a:custGeom>
              <a:avLst/>
              <a:gdLst/>
              <a:ahLst/>
              <a:cxnLst/>
              <a:rect l="l" t="t" r="r" b="b"/>
              <a:pathLst>
                <a:path w="6818148" h="8758524">
                  <a:moveTo>
                    <a:pt x="0" y="254574"/>
                  </a:moveTo>
                  <a:cubicBezTo>
                    <a:pt x="0" y="113935"/>
                    <a:pt x="122066" y="0"/>
                    <a:pt x="272741" y="0"/>
                  </a:cubicBezTo>
                  <a:lnTo>
                    <a:pt x="6545407" y="0"/>
                  </a:lnTo>
                  <a:cubicBezTo>
                    <a:pt x="6696081" y="0"/>
                    <a:pt x="6818148" y="113935"/>
                    <a:pt x="6818148" y="254574"/>
                  </a:cubicBezTo>
                  <a:lnTo>
                    <a:pt x="6818148" y="8503947"/>
                  </a:lnTo>
                  <a:cubicBezTo>
                    <a:pt x="6818148" y="8644586"/>
                    <a:pt x="6696081" y="8758524"/>
                    <a:pt x="6545407" y="8758524"/>
                  </a:cubicBezTo>
                  <a:lnTo>
                    <a:pt x="272741" y="8758524"/>
                  </a:lnTo>
                  <a:cubicBezTo>
                    <a:pt x="122066" y="8758523"/>
                    <a:pt x="0" y="8644467"/>
                    <a:pt x="0" y="8503947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1E40AF"/>
              </a:solidFill>
              <a:prstDash val="solid"/>
              <a:miter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5716747" y="88656"/>
            <a:ext cx="5156150" cy="960872"/>
            <a:chOff x="0" y="0"/>
            <a:chExt cx="6771856" cy="1281163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6771894" cy="1281176"/>
            </a:xfrm>
            <a:custGeom>
              <a:avLst/>
              <a:gdLst/>
              <a:ahLst/>
              <a:cxnLst/>
              <a:rect l="l" t="t" r="r" b="b"/>
              <a:pathLst>
                <a:path w="6771894" h="1281176">
                  <a:moveTo>
                    <a:pt x="0" y="0"/>
                  </a:moveTo>
                  <a:lnTo>
                    <a:pt x="6771894" y="0"/>
                  </a:lnTo>
                  <a:lnTo>
                    <a:pt x="6771894" y="1281176"/>
                  </a:lnTo>
                  <a:lnTo>
                    <a:pt x="0" y="1281176"/>
                  </a:lnTo>
                  <a:close/>
                </a:path>
              </a:pathLst>
            </a:custGeom>
            <a:solidFill>
              <a:srgbClr val="004B9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43" name="TextBox 43"/>
          <p:cNvSpPr txBox="1"/>
          <p:nvPr/>
        </p:nvSpPr>
        <p:spPr>
          <a:xfrm>
            <a:off x="5772355" y="320916"/>
            <a:ext cx="4982804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2000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 WAVE (Web Accessibility</a:t>
            </a:r>
          </a:p>
          <a:p>
            <a:pPr algn="ctr">
              <a:lnSpc>
                <a:spcPts val="2160"/>
              </a:lnSpc>
            </a:pPr>
            <a:r>
              <a:rPr lang="en-US" sz="20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Evaluation Tool)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5969098" y="1302463"/>
            <a:ext cx="1073751" cy="1073754"/>
            <a:chOff x="0" y="0"/>
            <a:chExt cx="1827682" cy="1827688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827784" cy="1827789"/>
            </a:xfrm>
            <a:custGeom>
              <a:avLst/>
              <a:gdLst/>
              <a:ahLst/>
              <a:cxnLst/>
              <a:rect l="l" t="t" r="r" b="b"/>
              <a:pathLst>
                <a:path w="1827784" h="1827789">
                  <a:moveTo>
                    <a:pt x="0" y="913895"/>
                  </a:moveTo>
                  <a:cubicBezTo>
                    <a:pt x="0" y="409195"/>
                    <a:pt x="409194" y="0"/>
                    <a:pt x="913892" y="0"/>
                  </a:cubicBezTo>
                  <a:cubicBezTo>
                    <a:pt x="1418590" y="0"/>
                    <a:pt x="1827784" y="409195"/>
                    <a:pt x="1827784" y="913895"/>
                  </a:cubicBezTo>
                  <a:cubicBezTo>
                    <a:pt x="1827784" y="1418594"/>
                    <a:pt x="1418590" y="1827789"/>
                    <a:pt x="913892" y="1827789"/>
                  </a:cubicBezTo>
                  <a:cubicBezTo>
                    <a:pt x="409194" y="1827789"/>
                    <a:pt x="0" y="1418594"/>
                    <a:pt x="0" y="913895"/>
                  </a:cubicBezTo>
                  <a:close/>
                </a:path>
              </a:pathLst>
            </a:custGeom>
            <a:solidFill>
              <a:srgbClr val="FFFFFF"/>
            </a:solidFill>
            <a:ln w="66727" cap="sq">
              <a:solidFill>
                <a:srgbClr val="1E40AF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0" y="-19050"/>
              <a:ext cx="1827682" cy="18467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1"/>
                </a:lnSpc>
              </a:pPr>
              <a:r>
                <a:rPr lang="en-US" b="1" dirty="0">
                  <a:solidFill>
                    <a:srgbClr val="111827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 Errors</a:t>
              </a: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7512396" y="1601215"/>
            <a:ext cx="3225784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b="1" dirty="0">
                <a:solidFill>
                  <a:srgbClr val="4B556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Overall Result</a:t>
            </a:r>
          </a:p>
          <a:p>
            <a:pPr algn="l">
              <a:lnSpc>
                <a:spcPts val="1919"/>
              </a:lnSpc>
            </a:pPr>
            <a:r>
              <a:rPr lang="en-US" b="1" dirty="0">
                <a:solidFill>
                  <a:srgbClr val="1E40A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No accessibility errors identified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5815917" y="2627615"/>
            <a:ext cx="4745826" cy="1635204"/>
            <a:chOff x="0" y="-93241"/>
            <a:chExt cx="6878898" cy="2223412"/>
          </a:xfrm>
        </p:grpSpPr>
        <p:sp>
          <p:nvSpPr>
            <p:cNvPr id="49" name="Freeform 49"/>
            <p:cNvSpPr/>
            <p:nvPr/>
          </p:nvSpPr>
          <p:spPr>
            <a:xfrm>
              <a:off x="0" y="-93241"/>
              <a:ext cx="6878898" cy="2223412"/>
            </a:xfrm>
            <a:custGeom>
              <a:avLst/>
              <a:gdLst/>
              <a:ahLst/>
              <a:cxnLst/>
              <a:rect l="l" t="t" r="r" b="b"/>
              <a:pathLst>
                <a:path w="6878899" h="2130171">
                  <a:moveTo>
                    <a:pt x="0" y="106553"/>
                  </a:moveTo>
                  <a:cubicBezTo>
                    <a:pt x="0" y="47625"/>
                    <a:pt x="52432" y="0"/>
                    <a:pt x="117307" y="0"/>
                  </a:cubicBezTo>
                  <a:lnTo>
                    <a:pt x="6761600" y="0"/>
                  </a:lnTo>
                  <a:cubicBezTo>
                    <a:pt x="6826335" y="0"/>
                    <a:pt x="6878899" y="47625"/>
                    <a:pt x="6878899" y="106553"/>
                  </a:cubicBezTo>
                  <a:lnTo>
                    <a:pt x="6878899" y="2023618"/>
                  </a:lnTo>
                  <a:cubicBezTo>
                    <a:pt x="6878899" y="2082419"/>
                    <a:pt x="6826476" y="2130171"/>
                    <a:pt x="6761600" y="2130171"/>
                  </a:cubicBezTo>
                  <a:lnTo>
                    <a:pt x="117307" y="2130171"/>
                  </a:lnTo>
                  <a:cubicBezTo>
                    <a:pt x="52572" y="2130171"/>
                    <a:pt x="0" y="2082546"/>
                    <a:pt x="0" y="2023618"/>
                  </a:cubicBezTo>
                  <a:close/>
                </a:path>
              </a:pathLst>
            </a:custGeom>
            <a:solidFill>
              <a:srgbClr val="F9FAFB"/>
            </a:solidFill>
            <a:ln w="19065" cap="sq">
              <a:solidFill>
                <a:srgbClr val="E5E7EB"/>
              </a:solidFill>
              <a:prstDash val="solid"/>
              <a:miter/>
            </a:ln>
          </p:spPr>
        </p:sp>
      </p:grpSp>
      <p:sp>
        <p:nvSpPr>
          <p:cNvPr id="50" name="TextBox 50"/>
          <p:cNvSpPr txBox="1"/>
          <p:nvPr/>
        </p:nvSpPr>
        <p:spPr>
          <a:xfrm>
            <a:off x="7610734" y="2690044"/>
            <a:ext cx="1533266" cy="243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b="1" dirty="0">
                <a:solidFill>
                  <a:srgbClr val="1E40A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CHECKS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6227721" y="3046278"/>
            <a:ext cx="411804" cy="411802"/>
            <a:chOff x="0" y="0"/>
            <a:chExt cx="549072" cy="549069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549021" cy="549018"/>
            </a:xfrm>
            <a:custGeom>
              <a:avLst/>
              <a:gdLst/>
              <a:ahLst/>
              <a:cxnLst/>
              <a:rect l="l" t="t" r="r" b="b"/>
              <a:pathLst>
                <a:path w="549021" h="549018">
                  <a:moveTo>
                    <a:pt x="0" y="274573"/>
                  </a:moveTo>
                  <a:cubicBezTo>
                    <a:pt x="0" y="122935"/>
                    <a:pt x="122936" y="0"/>
                    <a:pt x="274574" y="0"/>
                  </a:cubicBezTo>
                  <a:cubicBezTo>
                    <a:pt x="426212" y="0"/>
                    <a:pt x="549021" y="122935"/>
                    <a:pt x="549021" y="274573"/>
                  </a:cubicBezTo>
                  <a:cubicBezTo>
                    <a:pt x="549021" y="426210"/>
                    <a:pt x="426212" y="549018"/>
                    <a:pt x="274574" y="549018"/>
                  </a:cubicBezTo>
                  <a:cubicBezTo>
                    <a:pt x="122936" y="549018"/>
                    <a:pt x="0" y="426210"/>
                    <a:pt x="0" y="274573"/>
                  </a:cubicBezTo>
                  <a:close/>
                </a:path>
              </a:pathLst>
            </a:custGeom>
            <a:solidFill>
              <a:srgbClr val="1E40AF"/>
            </a:solidFill>
          </p:spPr>
        </p:sp>
        <p:sp>
          <p:nvSpPr>
            <p:cNvPr id="53" name="TextBox 53"/>
            <p:cNvSpPr txBox="1"/>
            <p:nvPr/>
          </p:nvSpPr>
          <p:spPr>
            <a:xfrm>
              <a:off x="0" y="-19050"/>
              <a:ext cx="549072" cy="5681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19"/>
                </a:lnSpc>
              </a:pPr>
              <a:r>
                <a:rPr lang="en-US" b="1" dirty="0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✓</a:t>
              </a:r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6382798" y="3656567"/>
            <a:ext cx="101650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b="1">
                <a:solidFill>
                  <a:srgbClr val="11182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5815917" y="3894397"/>
            <a:ext cx="1235402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b="1" dirty="0">
                <a:solidFill>
                  <a:srgbClr val="4B556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Errors</a:t>
            </a:r>
          </a:p>
        </p:txBody>
      </p:sp>
      <p:grpSp>
        <p:nvGrpSpPr>
          <p:cNvPr id="56" name="Group 56"/>
          <p:cNvGrpSpPr/>
          <p:nvPr/>
        </p:nvGrpSpPr>
        <p:grpSpPr>
          <a:xfrm>
            <a:off x="7325858" y="3046278"/>
            <a:ext cx="411804" cy="411802"/>
            <a:chOff x="0" y="0"/>
            <a:chExt cx="549072" cy="549069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549021" cy="549018"/>
            </a:xfrm>
            <a:custGeom>
              <a:avLst/>
              <a:gdLst/>
              <a:ahLst/>
              <a:cxnLst/>
              <a:rect l="l" t="t" r="r" b="b"/>
              <a:pathLst>
                <a:path w="549021" h="549018">
                  <a:moveTo>
                    <a:pt x="0" y="274573"/>
                  </a:moveTo>
                  <a:cubicBezTo>
                    <a:pt x="0" y="122935"/>
                    <a:pt x="122936" y="0"/>
                    <a:pt x="274574" y="0"/>
                  </a:cubicBezTo>
                  <a:cubicBezTo>
                    <a:pt x="426212" y="0"/>
                    <a:pt x="549021" y="122935"/>
                    <a:pt x="549021" y="274573"/>
                  </a:cubicBezTo>
                  <a:cubicBezTo>
                    <a:pt x="549021" y="426210"/>
                    <a:pt x="426212" y="549018"/>
                    <a:pt x="274574" y="549018"/>
                  </a:cubicBezTo>
                  <a:cubicBezTo>
                    <a:pt x="122936" y="549018"/>
                    <a:pt x="0" y="426210"/>
                    <a:pt x="0" y="274573"/>
                  </a:cubicBezTo>
                  <a:close/>
                </a:path>
              </a:pathLst>
            </a:custGeom>
            <a:solidFill>
              <a:srgbClr val="1E40AF"/>
            </a:solidFill>
          </p:spPr>
        </p:sp>
        <p:sp>
          <p:nvSpPr>
            <p:cNvPr id="58" name="TextBox 58"/>
            <p:cNvSpPr txBox="1"/>
            <p:nvPr/>
          </p:nvSpPr>
          <p:spPr>
            <a:xfrm>
              <a:off x="0" y="-19050"/>
              <a:ext cx="549072" cy="5681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19"/>
                </a:lnSpc>
              </a:pPr>
              <a:r>
                <a:rPr lang="en-US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✓</a:t>
              </a:r>
            </a:p>
          </p:txBody>
        </p:sp>
      </p:grpSp>
      <p:sp>
        <p:nvSpPr>
          <p:cNvPr id="59" name="TextBox 59"/>
          <p:cNvSpPr txBox="1"/>
          <p:nvPr/>
        </p:nvSpPr>
        <p:spPr>
          <a:xfrm>
            <a:off x="7480936" y="3656567"/>
            <a:ext cx="101650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b="1">
                <a:solidFill>
                  <a:srgbClr val="11182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6914055" y="3885376"/>
            <a:ext cx="1235402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b="1">
                <a:solidFill>
                  <a:srgbClr val="4B556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Alerts</a:t>
            </a:r>
          </a:p>
        </p:txBody>
      </p:sp>
      <p:grpSp>
        <p:nvGrpSpPr>
          <p:cNvPr id="61" name="Group 61"/>
          <p:cNvGrpSpPr/>
          <p:nvPr/>
        </p:nvGrpSpPr>
        <p:grpSpPr>
          <a:xfrm>
            <a:off x="8528771" y="3055298"/>
            <a:ext cx="411804" cy="411802"/>
            <a:chOff x="0" y="0"/>
            <a:chExt cx="549072" cy="549069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549021" cy="549018"/>
            </a:xfrm>
            <a:custGeom>
              <a:avLst/>
              <a:gdLst/>
              <a:ahLst/>
              <a:cxnLst/>
              <a:rect l="l" t="t" r="r" b="b"/>
              <a:pathLst>
                <a:path w="549021" h="549018">
                  <a:moveTo>
                    <a:pt x="0" y="274573"/>
                  </a:moveTo>
                  <a:cubicBezTo>
                    <a:pt x="0" y="122935"/>
                    <a:pt x="122936" y="0"/>
                    <a:pt x="274574" y="0"/>
                  </a:cubicBezTo>
                  <a:cubicBezTo>
                    <a:pt x="426212" y="0"/>
                    <a:pt x="549021" y="122935"/>
                    <a:pt x="549021" y="274573"/>
                  </a:cubicBezTo>
                  <a:cubicBezTo>
                    <a:pt x="549021" y="426210"/>
                    <a:pt x="426212" y="549018"/>
                    <a:pt x="274574" y="549018"/>
                  </a:cubicBezTo>
                  <a:cubicBezTo>
                    <a:pt x="122936" y="549018"/>
                    <a:pt x="0" y="426210"/>
                    <a:pt x="0" y="274573"/>
                  </a:cubicBezTo>
                  <a:close/>
                </a:path>
              </a:pathLst>
            </a:custGeom>
            <a:solidFill>
              <a:srgbClr val="1E40AF"/>
            </a:solidFill>
          </p:spPr>
        </p:sp>
        <p:sp>
          <p:nvSpPr>
            <p:cNvPr id="63" name="TextBox 63"/>
            <p:cNvSpPr txBox="1"/>
            <p:nvPr/>
          </p:nvSpPr>
          <p:spPr>
            <a:xfrm>
              <a:off x="0" y="-19050"/>
              <a:ext cx="549072" cy="5681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19"/>
                </a:lnSpc>
              </a:pPr>
              <a:r>
                <a:rPr lang="en-US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✓</a:t>
              </a:r>
            </a:p>
          </p:txBody>
        </p:sp>
      </p:grpSp>
      <p:sp>
        <p:nvSpPr>
          <p:cNvPr id="64" name="TextBox 64"/>
          <p:cNvSpPr txBox="1"/>
          <p:nvPr/>
        </p:nvSpPr>
        <p:spPr>
          <a:xfrm>
            <a:off x="8263757" y="3665587"/>
            <a:ext cx="764479" cy="243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b="1" dirty="0">
                <a:solidFill>
                  <a:srgbClr val="11182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Passed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8116967" y="3894397"/>
            <a:ext cx="1235402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b="1" dirty="0">
                <a:solidFill>
                  <a:srgbClr val="4B556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Structural</a:t>
            </a:r>
          </a:p>
        </p:txBody>
      </p:sp>
      <p:grpSp>
        <p:nvGrpSpPr>
          <p:cNvPr id="66" name="Group 66"/>
          <p:cNvGrpSpPr/>
          <p:nvPr/>
        </p:nvGrpSpPr>
        <p:grpSpPr>
          <a:xfrm>
            <a:off x="9878473" y="3009900"/>
            <a:ext cx="411804" cy="411802"/>
            <a:chOff x="0" y="0"/>
            <a:chExt cx="549072" cy="549069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549021" cy="549018"/>
            </a:xfrm>
            <a:custGeom>
              <a:avLst/>
              <a:gdLst/>
              <a:ahLst/>
              <a:cxnLst/>
              <a:rect l="l" t="t" r="r" b="b"/>
              <a:pathLst>
                <a:path w="549021" h="549018">
                  <a:moveTo>
                    <a:pt x="0" y="274573"/>
                  </a:moveTo>
                  <a:cubicBezTo>
                    <a:pt x="0" y="122935"/>
                    <a:pt x="122936" y="0"/>
                    <a:pt x="274574" y="0"/>
                  </a:cubicBezTo>
                  <a:cubicBezTo>
                    <a:pt x="426212" y="0"/>
                    <a:pt x="549021" y="122935"/>
                    <a:pt x="549021" y="274573"/>
                  </a:cubicBezTo>
                  <a:cubicBezTo>
                    <a:pt x="549021" y="426210"/>
                    <a:pt x="426212" y="549018"/>
                    <a:pt x="274574" y="549018"/>
                  </a:cubicBezTo>
                  <a:cubicBezTo>
                    <a:pt x="122936" y="549018"/>
                    <a:pt x="0" y="426210"/>
                    <a:pt x="0" y="274573"/>
                  </a:cubicBezTo>
                  <a:close/>
                </a:path>
              </a:pathLst>
            </a:custGeom>
            <a:solidFill>
              <a:srgbClr val="1E40AF"/>
            </a:solidFill>
          </p:spPr>
        </p:sp>
        <p:sp>
          <p:nvSpPr>
            <p:cNvPr id="68" name="TextBox 68"/>
            <p:cNvSpPr txBox="1"/>
            <p:nvPr/>
          </p:nvSpPr>
          <p:spPr>
            <a:xfrm>
              <a:off x="0" y="-19050"/>
              <a:ext cx="549072" cy="5681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19"/>
                </a:lnSpc>
              </a:pPr>
              <a:r>
                <a:rPr lang="en-US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✓</a:t>
              </a:r>
            </a:p>
          </p:txBody>
        </p:sp>
      </p:grpSp>
      <p:sp>
        <p:nvSpPr>
          <p:cNvPr id="69" name="TextBox 69"/>
          <p:cNvSpPr txBox="1"/>
          <p:nvPr/>
        </p:nvSpPr>
        <p:spPr>
          <a:xfrm>
            <a:off x="9533907" y="3656567"/>
            <a:ext cx="844032" cy="243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b="1" dirty="0">
                <a:solidFill>
                  <a:srgbClr val="11182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Passed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9466669" y="3885376"/>
            <a:ext cx="1235402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b="1" dirty="0">
                <a:solidFill>
                  <a:srgbClr val="4B556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ARIA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5961278" y="4596705"/>
            <a:ext cx="4667088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b="1" dirty="0">
                <a:solidFill>
                  <a:srgbClr val="1E40A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HIGHLIGHTS</a:t>
            </a:r>
          </a:p>
          <a:p>
            <a:pPr algn="l"/>
            <a:r>
              <a:rPr lang="en-US" dirty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✓  All form labels are properly associated</a:t>
            </a:r>
          </a:p>
          <a:p>
            <a:pPr algn="l"/>
            <a:r>
              <a:rPr lang="en-US" dirty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✓  All images have alternative text</a:t>
            </a:r>
          </a:p>
          <a:p>
            <a:pPr algn="l"/>
            <a:r>
              <a:rPr lang="en-US" dirty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✓  No empty links or buttons</a:t>
            </a:r>
          </a:p>
          <a:p>
            <a:pPr algn="l"/>
            <a:r>
              <a:rPr lang="en-US" dirty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✓  Heading structure is logical and sequential</a:t>
            </a:r>
          </a:p>
        </p:txBody>
      </p:sp>
      <p:grpSp>
        <p:nvGrpSpPr>
          <p:cNvPr id="72" name="Group 72"/>
          <p:cNvGrpSpPr/>
          <p:nvPr/>
        </p:nvGrpSpPr>
        <p:grpSpPr>
          <a:xfrm>
            <a:off x="5951744" y="6672890"/>
            <a:ext cx="4686148" cy="680410"/>
            <a:chOff x="0" y="0"/>
            <a:chExt cx="6248197" cy="720903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6248146" cy="720852"/>
            </a:xfrm>
            <a:custGeom>
              <a:avLst/>
              <a:gdLst/>
              <a:ahLst/>
              <a:cxnLst/>
              <a:rect l="l" t="t" r="r" b="b"/>
              <a:pathLst>
                <a:path w="6248146" h="720852">
                  <a:moveTo>
                    <a:pt x="0" y="108077"/>
                  </a:moveTo>
                  <a:cubicBezTo>
                    <a:pt x="0" y="48387"/>
                    <a:pt x="48387" y="0"/>
                    <a:pt x="108077" y="0"/>
                  </a:cubicBezTo>
                  <a:lnTo>
                    <a:pt x="6140069" y="0"/>
                  </a:lnTo>
                  <a:cubicBezTo>
                    <a:pt x="6199759" y="0"/>
                    <a:pt x="6248146" y="48387"/>
                    <a:pt x="6248146" y="108077"/>
                  </a:cubicBezTo>
                  <a:lnTo>
                    <a:pt x="6248146" y="612775"/>
                  </a:lnTo>
                  <a:cubicBezTo>
                    <a:pt x="6248146" y="672465"/>
                    <a:pt x="6199759" y="720852"/>
                    <a:pt x="6140069" y="720852"/>
                  </a:cubicBezTo>
                  <a:lnTo>
                    <a:pt x="108077" y="720852"/>
                  </a:lnTo>
                  <a:cubicBezTo>
                    <a:pt x="48387" y="720852"/>
                    <a:pt x="0" y="672465"/>
                    <a:pt x="0" y="612775"/>
                  </a:cubicBezTo>
                  <a:close/>
                </a:path>
              </a:pathLst>
            </a:custGeom>
            <a:solidFill>
              <a:srgbClr val="F9FAFB"/>
            </a:solidFill>
            <a:ln w="19065" cap="sq">
              <a:solidFill>
                <a:srgbClr val="1E40AF"/>
              </a:solidFill>
              <a:prstDash val="solid"/>
              <a:miter/>
            </a:ln>
          </p:spPr>
        </p:sp>
      </p:grpSp>
      <p:sp>
        <p:nvSpPr>
          <p:cNvPr id="74" name="TextBox 74"/>
          <p:cNvSpPr txBox="1"/>
          <p:nvPr/>
        </p:nvSpPr>
        <p:spPr>
          <a:xfrm>
            <a:off x="6121356" y="6838950"/>
            <a:ext cx="297551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 dirty="0">
                <a:solidFill>
                  <a:srgbClr val="1E40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🛡️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6601787" y="6743700"/>
            <a:ext cx="3866502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b="1" dirty="0">
                <a:solidFill>
                  <a:srgbClr val="1E40A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WCAG 2.1 LEVEL AA Compliance Achieved</a:t>
            </a:r>
          </a:p>
        </p:txBody>
      </p:sp>
      <p:grpSp>
        <p:nvGrpSpPr>
          <p:cNvPr id="76" name="Group 76"/>
          <p:cNvGrpSpPr/>
          <p:nvPr/>
        </p:nvGrpSpPr>
        <p:grpSpPr>
          <a:xfrm>
            <a:off x="10972800" y="177027"/>
            <a:ext cx="5776791" cy="7456446"/>
            <a:chOff x="0" y="0"/>
            <a:chExt cx="6809981" cy="8758485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6809994" cy="8758524"/>
            </a:xfrm>
            <a:custGeom>
              <a:avLst/>
              <a:gdLst/>
              <a:ahLst/>
              <a:cxnLst/>
              <a:rect l="l" t="t" r="r" b="b"/>
              <a:pathLst>
                <a:path w="6809994" h="8758524">
                  <a:moveTo>
                    <a:pt x="0" y="254574"/>
                  </a:moveTo>
                  <a:cubicBezTo>
                    <a:pt x="0" y="113935"/>
                    <a:pt x="121920" y="0"/>
                    <a:pt x="272415" y="0"/>
                  </a:cubicBezTo>
                  <a:lnTo>
                    <a:pt x="6537579" y="0"/>
                  </a:lnTo>
                  <a:cubicBezTo>
                    <a:pt x="6688074" y="0"/>
                    <a:pt x="6809994" y="113935"/>
                    <a:pt x="6809994" y="254574"/>
                  </a:cubicBezTo>
                  <a:lnTo>
                    <a:pt x="6809994" y="8503947"/>
                  </a:lnTo>
                  <a:cubicBezTo>
                    <a:pt x="6809994" y="8644586"/>
                    <a:pt x="6688074" y="8758524"/>
                    <a:pt x="6537579" y="8758524"/>
                  </a:cubicBezTo>
                  <a:lnTo>
                    <a:pt x="272415" y="8758524"/>
                  </a:lnTo>
                  <a:cubicBezTo>
                    <a:pt x="121920" y="8758523"/>
                    <a:pt x="0" y="8644467"/>
                    <a:pt x="0" y="8503947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6B21A8"/>
              </a:solidFill>
              <a:prstDash val="solid"/>
              <a:miter/>
            </a:ln>
          </p:spPr>
        </p:sp>
      </p:grpSp>
      <p:grpSp>
        <p:nvGrpSpPr>
          <p:cNvPr id="78" name="Group 78"/>
          <p:cNvGrpSpPr/>
          <p:nvPr/>
        </p:nvGrpSpPr>
        <p:grpSpPr>
          <a:xfrm>
            <a:off x="10972800" y="65844"/>
            <a:ext cx="5791200" cy="960882"/>
            <a:chOff x="124009" y="-209855"/>
            <a:chExt cx="6771894" cy="1281176"/>
          </a:xfrm>
        </p:grpSpPr>
        <p:sp>
          <p:nvSpPr>
            <p:cNvPr id="79" name="Freeform 79"/>
            <p:cNvSpPr/>
            <p:nvPr/>
          </p:nvSpPr>
          <p:spPr>
            <a:xfrm>
              <a:off x="124009" y="-209855"/>
              <a:ext cx="6771894" cy="1281176"/>
            </a:xfrm>
            <a:custGeom>
              <a:avLst/>
              <a:gdLst/>
              <a:ahLst/>
              <a:cxnLst/>
              <a:rect l="l" t="t" r="r" b="b"/>
              <a:pathLst>
                <a:path w="6771894" h="1281176">
                  <a:moveTo>
                    <a:pt x="0" y="0"/>
                  </a:moveTo>
                  <a:lnTo>
                    <a:pt x="6771894" y="0"/>
                  </a:lnTo>
                  <a:lnTo>
                    <a:pt x="6771894" y="1281176"/>
                  </a:lnTo>
                  <a:lnTo>
                    <a:pt x="0" y="1281176"/>
                  </a:lnTo>
                  <a:close/>
                </a:path>
              </a:pathLst>
            </a:custGeom>
            <a:solidFill>
              <a:srgbClr val="5E1F8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80" name="TextBox 80"/>
          <p:cNvSpPr txBox="1"/>
          <p:nvPr/>
        </p:nvSpPr>
        <p:spPr>
          <a:xfrm>
            <a:off x="11269775" y="357702"/>
            <a:ext cx="4884172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2000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3. AXE DEVTOOLS</a:t>
            </a:r>
          </a:p>
          <a:p>
            <a:pPr algn="ctr">
              <a:lnSpc>
                <a:spcPts val="1919"/>
              </a:lnSpc>
            </a:pPr>
            <a:r>
              <a:rPr lang="en-US" sz="20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(Automated Accessibility Testing)</a:t>
            </a:r>
          </a:p>
        </p:txBody>
      </p:sp>
      <p:grpSp>
        <p:nvGrpSpPr>
          <p:cNvPr id="81" name="Group 81"/>
          <p:cNvGrpSpPr/>
          <p:nvPr/>
        </p:nvGrpSpPr>
        <p:grpSpPr>
          <a:xfrm>
            <a:off x="11386137" y="1332239"/>
            <a:ext cx="1158954" cy="1158958"/>
            <a:chOff x="0" y="0"/>
            <a:chExt cx="1827682" cy="1827688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1827784" cy="1827789"/>
            </a:xfrm>
            <a:custGeom>
              <a:avLst/>
              <a:gdLst/>
              <a:ahLst/>
              <a:cxnLst/>
              <a:rect l="l" t="t" r="r" b="b"/>
              <a:pathLst>
                <a:path w="1827784" h="1827789">
                  <a:moveTo>
                    <a:pt x="0" y="913895"/>
                  </a:moveTo>
                  <a:cubicBezTo>
                    <a:pt x="0" y="409195"/>
                    <a:pt x="409194" y="0"/>
                    <a:pt x="913892" y="0"/>
                  </a:cubicBezTo>
                  <a:cubicBezTo>
                    <a:pt x="1418590" y="0"/>
                    <a:pt x="1827784" y="409195"/>
                    <a:pt x="1827784" y="913895"/>
                  </a:cubicBezTo>
                  <a:cubicBezTo>
                    <a:pt x="1827784" y="1418594"/>
                    <a:pt x="1418590" y="1827789"/>
                    <a:pt x="913892" y="1827789"/>
                  </a:cubicBezTo>
                  <a:cubicBezTo>
                    <a:pt x="409194" y="1827789"/>
                    <a:pt x="0" y="1418594"/>
                    <a:pt x="0" y="913895"/>
                  </a:cubicBezTo>
                  <a:close/>
                </a:path>
              </a:pathLst>
            </a:custGeom>
            <a:solidFill>
              <a:srgbClr val="FFFFFF"/>
            </a:solidFill>
            <a:ln w="66727" cap="sq">
              <a:solidFill>
                <a:srgbClr val="6B21A8"/>
              </a:solidFill>
              <a:prstDash val="solid"/>
              <a:miter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0" y="-19050"/>
              <a:ext cx="1827682" cy="18467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1"/>
                </a:lnSpc>
              </a:pPr>
              <a:r>
                <a:rPr lang="en-US" b="1" dirty="0">
                  <a:solidFill>
                    <a:srgbClr val="111827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 Violations</a:t>
              </a:r>
            </a:p>
          </p:txBody>
        </p:sp>
      </p:grpSp>
      <p:sp>
        <p:nvSpPr>
          <p:cNvPr id="84" name="TextBox 84"/>
          <p:cNvSpPr txBox="1"/>
          <p:nvPr/>
        </p:nvSpPr>
        <p:spPr>
          <a:xfrm>
            <a:off x="12649200" y="1472627"/>
            <a:ext cx="3539290" cy="73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b="1" dirty="0">
                <a:solidFill>
                  <a:srgbClr val="4B556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Overall Result</a:t>
            </a:r>
          </a:p>
          <a:p>
            <a:pPr algn="l">
              <a:lnSpc>
                <a:spcPts val="1919"/>
              </a:lnSpc>
            </a:pPr>
            <a:r>
              <a:rPr lang="en-US" b="1" dirty="0">
                <a:solidFill>
                  <a:srgbClr val="6B21A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No WCAG 2.1 Level AA violations detected</a:t>
            </a:r>
          </a:p>
        </p:txBody>
      </p:sp>
      <p:grpSp>
        <p:nvGrpSpPr>
          <p:cNvPr id="85" name="Group 85"/>
          <p:cNvGrpSpPr/>
          <p:nvPr/>
        </p:nvGrpSpPr>
        <p:grpSpPr>
          <a:xfrm>
            <a:off x="11049000" y="2628900"/>
            <a:ext cx="5574594" cy="1597628"/>
            <a:chOff x="-85409" y="-101600"/>
            <a:chExt cx="6248273" cy="2130171"/>
          </a:xfrm>
        </p:grpSpPr>
        <p:sp>
          <p:nvSpPr>
            <p:cNvPr id="86" name="Freeform 86"/>
            <p:cNvSpPr/>
            <p:nvPr/>
          </p:nvSpPr>
          <p:spPr>
            <a:xfrm>
              <a:off x="-85409" y="-101600"/>
              <a:ext cx="6248273" cy="2130171"/>
            </a:xfrm>
            <a:custGeom>
              <a:avLst/>
              <a:gdLst/>
              <a:ahLst/>
              <a:cxnLst/>
              <a:rect l="l" t="t" r="r" b="b"/>
              <a:pathLst>
                <a:path w="6248273" h="2130171">
                  <a:moveTo>
                    <a:pt x="0" y="106553"/>
                  </a:moveTo>
                  <a:cubicBezTo>
                    <a:pt x="0" y="47625"/>
                    <a:pt x="47625" y="0"/>
                    <a:pt x="106553" y="0"/>
                  </a:cubicBezTo>
                  <a:lnTo>
                    <a:pt x="6141720" y="0"/>
                  </a:lnTo>
                  <a:cubicBezTo>
                    <a:pt x="6200521" y="0"/>
                    <a:pt x="6248273" y="47625"/>
                    <a:pt x="6248273" y="106553"/>
                  </a:cubicBezTo>
                  <a:lnTo>
                    <a:pt x="6248273" y="2023618"/>
                  </a:lnTo>
                  <a:cubicBezTo>
                    <a:pt x="6248273" y="2082419"/>
                    <a:pt x="6200648" y="2130171"/>
                    <a:pt x="6141720" y="2130171"/>
                  </a:cubicBezTo>
                  <a:lnTo>
                    <a:pt x="106553" y="2130171"/>
                  </a:lnTo>
                  <a:cubicBezTo>
                    <a:pt x="47752" y="2130171"/>
                    <a:pt x="0" y="2082546"/>
                    <a:pt x="0" y="2023618"/>
                  </a:cubicBezTo>
                  <a:close/>
                </a:path>
              </a:pathLst>
            </a:custGeom>
            <a:solidFill>
              <a:srgbClr val="F9FAFB"/>
            </a:solidFill>
            <a:ln w="19065" cap="sq">
              <a:solidFill>
                <a:srgbClr val="E5E7EB"/>
              </a:solidFill>
              <a:prstDash val="solid"/>
              <a:miter/>
            </a:ln>
          </p:spPr>
        </p:sp>
      </p:grpSp>
      <p:sp>
        <p:nvSpPr>
          <p:cNvPr id="87" name="TextBox 87"/>
          <p:cNvSpPr txBox="1"/>
          <p:nvPr/>
        </p:nvSpPr>
        <p:spPr>
          <a:xfrm>
            <a:off x="12699017" y="2735312"/>
            <a:ext cx="2388583" cy="1983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31"/>
              </a:lnSpc>
            </a:pPr>
            <a:r>
              <a:rPr lang="en-US" b="1" dirty="0">
                <a:solidFill>
                  <a:srgbClr val="6B21A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TEST COVERAGE</a:t>
            </a:r>
          </a:p>
        </p:txBody>
      </p:sp>
      <p:grpSp>
        <p:nvGrpSpPr>
          <p:cNvPr id="88" name="Group 88"/>
          <p:cNvGrpSpPr/>
          <p:nvPr/>
        </p:nvGrpSpPr>
        <p:grpSpPr>
          <a:xfrm>
            <a:off x="11582400" y="3291573"/>
            <a:ext cx="411804" cy="411802"/>
            <a:chOff x="0" y="0"/>
            <a:chExt cx="549072" cy="549069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549021" cy="549018"/>
            </a:xfrm>
            <a:custGeom>
              <a:avLst/>
              <a:gdLst/>
              <a:ahLst/>
              <a:cxnLst/>
              <a:rect l="l" t="t" r="r" b="b"/>
              <a:pathLst>
                <a:path w="549021" h="549018">
                  <a:moveTo>
                    <a:pt x="0" y="274573"/>
                  </a:moveTo>
                  <a:cubicBezTo>
                    <a:pt x="0" y="122935"/>
                    <a:pt x="122936" y="0"/>
                    <a:pt x="274574" y="0"/>
                  </a:cubicBezTo>
                  <a:cubicBezTo>
                    <a:pt x="426212" y="0"/>
                    <a:pt x="549021" y="122935"/>
                    <a:pt x="549021" y="274573"/>
                  </a:cubicBezTo>
                  <a:cubicBezTo>
                    <a:pt x="549021" y="426210"/>
                    <a:pt x="426212" y="549018"/>
                    <a:pt x="274574" y="549018"/>
                  </a:cubicBezTo>
                  <a:cubicBezTo>
                    <a:pt x="122936" y="549018"/>
                    <a:pt x="0" y="426210"/>
                    <a:pt x="0" y="274573"/>
                  </a:cubicBezTo>
                  <a:close/>
                </a:path>
              </a:pathLst>
            </a:custGeom>
            <a:solidFill>
              <a:srgbClr val="6B21A8"/>
            </a:solidFill>
          </p:spPr>
        </p:sp>
        <p:sp>
          <p:nvSpPr>
            <p:cNvPr id="90" name="TextBox 90"/>
            <p:cNvSpPr txBox="1"/>
            <p:nvPr/>
          </p:nvSpPr>
          <p:spPr>
            <a:xfrm>
              <a:off x="0" y="-19050"/>
              <a:ext cx="549072" cy="5681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41"/>
                </a:lnSpc>
              </a:pPr>
              <a:r>
                <a:rPr lang="en-US" sz="16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✓</a:t>
              </a:r>
            </a:p>
          </p:txBody>
        </p:sp>
      </p:grpSp>
      <p:sp>
        <p:nvSpPr>
          <p:cNvPr id="91" name="TextBox 91"/>
          <p:cNvSpPr txBox="1"/>
          <p:nvPr/>
        </p:nvSpPr>
        <p:spPr>
          <a:xfrm>
            <a:off x="11430000" y="3747664"/>
            <a:ext cx="714538" cy="1983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31"/>
              </a:lnSpc>
            </a:pPr>
            <a:r>
              <a:rPr lang="en-US" b="1" dirty="0">
                <a:solidFill>
                  <a:srgbClr val="11182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Passed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11049000" y="4011077"/>
            <a:ext cx="1486966" cy="1791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97"/>
              </a:lnSpc>
            </a:pPr>
            <a:r>
              <a:rPr lang="en-US" b="1" dirty="0">
                <a:solidFill>
                  <a:srgbClr val="4B556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WCAG Rules</a:t>
            </a:r>
          </a:p>
        </p:txBody>
      </p:sp>
      <p:grpSp>
        <p:nvGrpSpPr>
          <p:cNvPr id="93" name="Group 93"/>
          <p:cNvGrpSpPr/>
          <p:nvPr/>
        </p:nvGrpSpPr>
        <p:grpSpPr>
          <a:xfrm>
            <a:off x="13109286" y="3291573"/>
            <a:ext cx="411804" cy="411802"/>
            <a:chOff x="0" y="0"/>
            <a:chExt cx="549072" cy="549069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549021" cy="549018"/>
            </a:xfrm>
            <a:custGeom>
              <a:avLst/>
              <a:gdLst/>
              <a:ahLst/>
              <a:cxnLst/>
              <a:rect l="l" t="t" r="r" b="b"/>
              <a:pathLst>
                <a:path w="549021" h="549018">
                  <a:moveTo>
                    <a:pt x="0" y="274573"/>
                  </a:moveTo>
                  <a:cubicBezTo>
                    <a:pt x="0" y="122935"/>
                    <a:pt x="122936" y="0"/>
                    <a:pt x="274574" y="0"/>
                  </a:cubicBezTo>
                  <a:cubicBezTo>
                    <a:pt x="426212" y="0"/>
                    <a:pt x="549021" y="122935"/>
                    <a:pt x="549021" y="274573"/>
                  </a:cubicBezTo>
                  <a:cubicBezTo>
                    <a:pt x="549021" y="426210"/>
                    <a:pt x="426212" y="549018"/>
                    <a:pt x="274574" y="549018"/>
                  </a:cubicBezTo>
                  <a:cubicBezTo>
                    <a:pt x="122936" y="549018"/>
                    <a:pt x="0" y="426210"/>
                    <a:pt x="0" y="274573"/>
                  </a:cubicBezTo>
                  <a:close/>
                </a:path>
              </a:pathLst>
            </a:custGeom>
            <a:solidFill>
              <a:srgbClr val="6B21A8"/>
            </a:solidFill>
          </p:spPr>
        </p:sp>
        <p:sp>
          <p:nvSpPr>
            <p:cNvPr id="95" name="TextBox 95"/>
            <p:cNvSpPr txBox="1"/>
            <p:nvPr/>
          </p:nvSpPr>
          <p:spPr>
            <a:xfrm>
              <a:off x="0" y="-19050"/>
              <a:ext cx="549072" cy="5681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41"/>
                </a:lnSpc>
              </a:pPr>
              <a:r>
                <a:rPr lang="en-US" sz="16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✓</a:t>
              </a:r>
            </a:p>
          </p:txBody>
        </p:sp>
      </p:grpSp>
      <p:sp>
        <p:nvSpPr>
          <p:cNvPr id="96" name="TextBox 96"/>
          <p:cNvSpPr txBox="1"/>
          <p:nvPr/>
        </p:nvSpPr>
        <p:spPr>
          <a:xfrm>
            <a:off x="12970934" y="3774688"/>
            <a:ext cx="668866" cy="1983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31"/>
              </a:lnSpc>
            </a:pPr>
            <a:r>
              <a:rPr lang="en-US" b="1" dirty="0">
                <a:solidFill>
                  <a:srgbClr val="11182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Passed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12547359" y="4038101"/>
            <a:ext cx="1385535" cy="1791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97"/>
              </a:lnSpc>
            </a:pPr>
            <a:r>
              <a:rPr lang="en-US" b="1" dirty="0">
                <a:solidFill>
                  <a:srgbClr val="4B556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ARIA Checks</a:t>
            </a:r>
          </a:p>
        </p:txBody>
      </p:sp>
      <p:grpSp>
        <p:nvGrpSpPr>
          <p:cNvPr id="98" name="Group 98"/>
          <p:cNvGrpSpPr/>
          <p:nvPr/>
        </p:nvGrpSpPr>
        <p:grpSpPr>
          <a:xfrm>
            <a:off x="14673653" y="3291573"/>
            <a:ext cx="411804" cy="411802"/>
            <a:chOff x="0" y="0"/>
            <a:chExt cx="549072" cy="549069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549021" cy="549018"/>
            </a:xfrm>
            <a:custGeom>
              <a:avLst/>
              <a:gdLst/>
              <a:ahLst/>
              <a:cxnLst/>
              <a:rect l="l" t="t" r="r" b="b"/>
              <a:pathLst>
                <a:path w="549021" h="549018">
                  <a:moveTo>
                    <a:pt x="0" y="274573"/>
                  </a:moveTo>
                  <a:cubicBezTo>
                    <a:pt x="0" y="122935"/>
                    <a:pt x="122936" y="0"/>
                    <a:pt x="274574" y="0"/>
                  </a:cubicBezTo>
                  <a:cubicBezTo>
                    <a:pt x="426212" y="0"/>
                    <a:pt x="549021" y="122935"/>
                    <a:pt x="549021" y="274573"/>
                  </a:cubicBezTo>
                  <a:cubicBezTo>
                    <a:pt x="549021" y="426210"/>
                    <a:pt x="426212" y="549018"/>
                    <a:pt x="274574" y="549018"/>
                  </a:cubicBezTo>
                  <a:cubicBezTo>
                    <a:pt x="122936" y="549018"/>
                    <a:pt x="0" y="426210"/>
                    <a:pt x="0" y="274573"/>
                  </a:cubicBezTo>
                  <a:close/>
                </a:path>
              </a:pathLst>
            </a:custGeom>
            <a:solidFill>
              <a:srgbClr val="6B21A8"/>
            </a:solidFill>
          </p:spPr>
        </p:sp>
        <p:sp>
          <p:nvSpPr>
            <p:cNvPr id="100" name="TextBox 100"/>
            <p:cNvSpPr txBox="1"/>
            <p:nvPr/>
          </p:nvSpPr>
          <p:spPr>
            <a:xfrm>
              <a:off x="0" y="-19050"/>
              <a:ext cx="549072" cy="5681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41"/>
                </a:lnSpc>
              </a:pPr>
              <a:r>
                <a:rPr lang="en-US" sz="16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✓</a:t>
              </a:r>
            </a:p>
          </p:txBody>
        </p:sp>
      </p:grpSp>
      <p:sp>
        <p:nvSpPr>
          <p:cNvPr id="101" name="TextBox 101"/>
          <p:cNvSpPr txBox="1"/>
          <p:nvPr/>
        </p:nvSpPr>
        <p:spPr>
          <a:xfrm>
            <a:off x="14563230" y="3774688"/>
            <a:ext cx="668867" cy="1983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31"/>
              </a:lnSpc>
            </a:pPr>
            <a:r>
              <a:rPr lang="en-US" b="1" dirty="0">
                <a:solidFill>
                  <a:srgbClr val="11182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Passed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14056662" y="4048625"/>
            <a:ext cx="1640538" cy="1791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97"/>
              </a:lnSpc>
            </a:pPr>
            <a:r>
              <a:rPr lang="en-US" b="1" dirty="0">
                <a:solidFill>
                  <a:srgbClr val="4B556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Best Practices</a:t>
            </a:r>
          </a:p>
        </p:txBody>
      </p:sp>
      <p:grpSp>
        <p:nvGrpSpPr>
          <p:cNvPr id="103" name="Group 103"/>
          <p:cNvGrpSpPr/>
          <p:nvPr/>
        </p:nvGrpSpPr>
        <p:grpSpPr>
          <a:xfrm>
            <a:off x="15940402" y="3291573"/>
            <a:ext cx="411804" cy="411802"/>
            <a:chOff x="0" y="0"/>
            <a:chExt cx="549072" cy="549069"/>
          </a:xfrm>
        </p:grpSpPr>
        <p:sp>
          <p:nvSpPr>
            <p:cNvPr id="104" name="Freeform 104"/>
            <p:cNvSpPr/>
            <p:nvPr/>
          </p:nvSpPr>
          <p:spPr>
            <a:xfrm>
              <a:off x="0" y="0"/>
              <a:ext cx="549021" cy="549018"/>
            </a:xfrm>
            <a:custGeom>
              <a:avLst/>
              <a:gdLst/>
              <a:ahLst/>
              <a:cxnLst/>
              <a:rect l="l" t="t" r="r" b="b"/>
              <a:pathLst>
                <a:path w="549021" h="549018">
                  <a:moveTo>
                    <a:pt x="0" y="274573"/>
                  </a:moveTo>
                  <a:cubicBezTo>
                    <a:pt x="0" y="122935"/>
                    <a:pt x="122936" y="0"/>
                    <a:pt x="274574" y="0"/>
                  </a:cubicBezTo>
                  <a:cubicBezTo>
                    <a:pt x="426212" y="0"/>
                    <a:pt x="549021" y="122935"/>
                    <a:pt x="549021" y="274573"/>
                  </a:cubicBezTo>
                  <a:cubicBezTo>
                    <a:pt x="549021" y="426210"/>
                    <a:pt x="426212" y="549018"/>
                    <a:pt x="274574" y="549018"/>
                  </a:cubicBezTo>
                  <a:cubicBezTo>
                    <a:pt x="122936" y="549018"/>
                    <a:pt x="0" y="426210"/>
                    <a:pt x="0" y="274573"/>
                  </a:cubicBezTo>
                  <a:close/>
                </a:path>
              </a:pathLst>
            </a:custGeom>
            <a:solidFill>
              <a:srgbClr val="6B21A8"/>
            </a:solidFill>
          </p:spPr>
        </p:sp>
        <p:sp>
          <p:nvSpPr>
            <p:cNvPr id="105" name="TextBox 105"/>
            <p:cNvSpPr txBox="1"/>
            <p:nvPr/>
          </p:nvSpPr>
          <p:spPr>
            <a:xfrm>
              <a:off x="0" y="-19050"/>
              <a:ext cx="549072" cy="5681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41"/>
                </a:lnSpc>
              </a:pPr>
              <a:r>
                <a:rPr lang="en-US" sz="16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✓</a:t>
              </a:r>
            </a:p>
          </p:txBody>
        </p:sp>
      </p:grpSp>
      <p:sp>
        <p:nvSpPr>
          <p:cNvPr id="106" name="TextBox 106"/>
          <p:cNvSpPr txBox="1"/>
          <p:nvPr/>
        </p:nvSpPr>
        <p:spPr>
          <a:xfrm>
            <a:off x="15798632" y="3747664"/>
            <a:ext cx="668867" cy="1983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31"/>
              </a:lnSpc>
            </a:pPr>
            <a:r>
              <a:rPr lang="en-US" b="1" dirty="0">
                <a:solidFill>
                  <a:srgbClr val="11182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Passed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15528598" y="3995833"/>
            <a:ext cx="1235402" cy="179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97"/>
              </a:lnSpc>
            </a:pPr>
            <a:r>
              <a:rPr lang="en-US" b="1" dirty="0">
                <a:solidFill>
                  <a:srgbClr val="4B556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Contrast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11378317" y="4533900"/>
            <a:ext cx="4667088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b="1" dirty="0">
                <a:solidFill>
                  <a:srgbClr val="6B21A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HIGHLIGHTS</a:t>
            </a:r>
          </a:p>
          <a:p>
            <a:pPr algn="l"/>
            <a:r>
              <a:rPr lang="en-US" dirty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✓  All interactive controls have accessible names</a:t>
            </a:r>
          </a:p>
          <a:p>
            <a:pPr algn="l"/>
            <a:r>
              <a:rPr lang="en-US" dirty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✓  Sufficient color contrast across all components</a:t>
            </a:r>
          </a:p>
          <a:p>
            <a:pPr algn="l"/>
            <a:r>
              <a:rPr lang="en-US" dirty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✓  No elements missing required ARIA attributes</a:t>
            </a:r>
          </a:p>
          <a:p>
            <a:pPr algn="l"/>
            <a:r>
              <a:rPr lang="en-US" dirty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✓  Keyboard navigation is fully supported</a:t>
            </a:r>
          </a:p>
        </p:txBody>
      </p:sp>
      <p:grpSp>
        <p:nvGrpSpPr>
          <p:cNvPr id="109" name="Group 109"/>
          <p:cNvGrpSpPr/>
          <p:nvPr/>
        </p:nvGrpSpPr>
        <p:grpSpPr>
          <a:xfrm>
            <a:off x="11368782" y="6667500"/>
            <a:ext cx="5242817" cy="733425"/>
            <a:chOff x="0" y="0"/>
            <a:chExt cx="6248197" cy="720903"/>
          </a:xfrm>
        </p:grpSpPr>
        <p:sp>
          <p:nvSpPr>
            <p:cNvPr id="110" name="Freeform 110"/>
            <p:cNvSpPr/>
            <p:nvPr/>
          </p:nvSpPr>
          <p:spPr>
            <a:xfrm>
              <a:off x="0" y="0"/>
              <a:ext cx="6248146" cy="720852"/>
            </a:xfrm>
            <a:custGeom>
              <a:avLst/>
              <a:gdLst/>
              <a:ahLst/>
              <a:cxnLst/>
              <a:rect l="l" t="t" r="r" b="b"/>
              <a:pathLst>
                <a:path w="6248146" h="720852">
                  <a:moveTo>
                    <a:pt x="0" y="108077"/>
                  </a:moveTo>
                  <a:cubicBezTo>
                    <a:pt x="0" y="48387"/>
                    <a:pt x="48387" y="0"/>
                    <a:pt x="108077" y="0"/>
                  </a:cubicBezTo>
                  <a:lnTo>
                    <a:pt x="6140069" y="0"/>
                  </a:lnTo>
                  <a:cubicBezTo>
                    <a:pt x="6199759" y="0"/>
                    <a:pt x="6248146" y="48387"/>
                    <a:pt x="6248146" y="108077"/>
                  </a:cubicBezTo>
                  <a:lnTo>
                    <a:pt x="6248146" y="612775"/>
                  </a:lnTo>
                  <a:cubicBezTo>
                    <a:pt x="6248146" y="672465"/>
                    <a:pt x="6199759" y="720852"/>
                    <a:pt x="6140069" y="720852"/>
                  </a:cubicBezTo>
                  <a:lnTo>
                    <a:pt x="108077" y="720852"/>
                  </a:lnTo>
                  <a:cubicBezTo>
                    <a:pt x="48387" y="720852"/>
                    <a:pt x="0" y="672465"/>
                    <a:pt x="0" y="612775"/>
                  </a:cubicBezTo>
                  <a:close/>
                </a:path>
              </a:pathLst>
            </a:custGeom>
            <a:solidFill>
              <a:srgbClr val="F9FAFB"/>
            </a:solidFill>
            <a:ln w="19065" cap="sq">
              <a:solidFill>
                <a:srgbClr val="6B21A8"/>
              </a:solidFill>
              <a:prstDash val="solid"/>
              <a:miter/>
            </a:ln>
          </p:spPr>
        </p:sp>
      </p:grpSp>
      <p:sp>
        <p:nvSpPr>
          <p:cNvPr id="111" name="TextBox 111"/>
          <p:cNvSpPr txBox="1"/>
          <p:nvPr/>
        </p:nvSpPr>
        <p:spPr>
          <a:xfrm>
            <a:off x="11538394" y="6845237"/>
            <a:ext cx="297551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 dirty="0">
                <a:solidFill>
                  <a:srgbClr val="6B21A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🛡️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12018826" y="6781248"/>
            <a:ext cx="3866502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1">
                <a:solidFill>
                  <a:srgbClr val="6B21A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WCAG 2.1 LEVEL AA Compliance Achieved</a:t>
            </a:r>
          </a:p>
        </p:txBody>
      </p:sp>
      <p:grpSp>
        <p:nvGrpSpPr>
          <p:cNvPr id="113" name="Group 113"/>
          <p:cNvGrpSpPr/>
          <p:nvPr/>
        </p:nvGrpSpPr>
        <p:grpSpPr>
          <a:xfrm>
            <a:off x="407032" y="8024565"/>
            <a:ext cx="16204568" cy="1538535"/>
            <a:chOff x="0" y="0"/>
            <a:chExt cx="21125701" cy="2051380"/>
          </a:xfrm>
        </p:grpSpPr>
        <p:sp>
          <p:nvSpPr>
            <p:cNvPr id="114" name="Freeform 114"/>
            <p:cNvSpPr/>
            <p:nvPr/>
          </p:nvSpPr>
          <p:spPr>
            <a:xfrm>
              <a:off x="0" y="0"/>
              <a:ext cx="21125802" cy="2051431"/>
            </a:xfrm>
            <a:custGeom>
              <a:avLst/>
              <a:gdLst/>
              <a:ahLst/>
              <a:cxnLst/>
              <a:rect l="l" t="t" r="r" b="b"/>
              <a:pathLst>
                <a:path w="21125802" h="2051431">
                  <a:moveTo>
                    <a:pt x="0" y="102616"/>
                  </a:moveTo>
                  <a:cubicBezTo>
                    <a:pt x="0" y="45974"/>
                    <a:pt x="41716" y="0"/>
                    <a:pt x="93112" y="0"/>
                  </a:cubicBezTo>
                  <a:lnTo>
                    <a:pt x="21032682" y="0"/>
                  </a:lnTo>
                  <a:cubicBezTo>
                    <a:pt x="21084077" y="0"/>
                    <a:pt x="21125802" y="45974"/>
                    <a:pt x="21125802" y="102616"/>
                  </a:cubicBezTo>
                  <a:lnTo>
                    <a:pt x="21125802" y="1948815"/>
                  </a:lnTo>
                  <a:cubicBezTo>
                    <a:pt x="21125802" y="2005457"/>
                    <a:pt x="21084077" y="2051431"/>
                    <a:pt x="21032682" y="2051431"/>
                  </a:cubicBezTo>
                  <a:lnTo>
                    <a:pt x="93112" y="2051431"/>
                  </a:lnTo>
                  <a:cubicBezTo>
                    <a:pt x="41716" y="2051431"/>
                    <a:pt x="0" y="2005457"/>
                    <a:pt x="0" y="1948815"/>
                  </a:cubicBezTo>
                  <a:close/>
                </a:path>
              </a:pathLst>
            </a:custGeom>
            <a:solidFill>
              <a:srgbClr val="F9FAFB"/>
            </a:solidFill>
            <a:ln w="28597" cap="sq">
              <a:solidFill>
                <a:srgbClr val="1E40AF"/>
              </a:solidFill>
              <a:prstDash val="solid"/>
              <a:miter/>
            </a:ln>
          </p:spPr>
        </p:sp>
      </p:grpSp>
      <p:sp>
        <p:nvSpPr>
          <p:cNvPr id="115" name="TextBox 115"/>
          <p:cNvSpPr txBox="1"/>
          <p:nvPr/>
        </p:nvSpPr>
        <p:spPr>
          <a:xfrm>
            <a:off x="592903" y="8201525"/>
            <a:ext cx="6321152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b="1" dirty="0">
                <a:solidFill>
                  <a:srgbClr val="1E40AF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OVERALL AUTOMATED ACCESSIBILITY OUTCOME</a:t>
            </a:r>
          </a:p>
          <a:p>
            <a:pPr algn="l">
              <a:lnSpc>
                <a:spcPts val="1919"/>
              </a:lnSpc>
            </a:pPr>
            <a:r>
              <a:rPr lang="en-US" dirty="0">
                <a:solidFill>
                  <a:srgbClr val="111827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All three automated tools confirm that the BCHAIN-ACCESS prototype fully complies with WCAG 2.1 Level AA. No accessibility errors, alerts, or violations were detected.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8064036" y="8201525"/>
            <a:ext cx="7246269" cy="974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b="1" dirty="0">
                <a:solidFill>
                  <a:srgbClr val="B45309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TOOLS COMPLEMENT EACH OTHER</a:t>
            </a:r>
          </a:p>
          <a:p>
            <a:pPr algn="l">
              <a:lnSpc>
                <a:spcPts val="1919"/>
              </a:lnSpc>
            </a:pPr>
            <a:r>
              <a:rPr lang="en-US" dirty="0">
                <a:solidFill>
                  <a:srgbClr val="111827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Lighthouse provides a holistic audit, WAVE offers visual feedback and structural validation and Axe </a:t>
            </a:r>
            <a:r>
              <a:rPr lang="en-US" dirty="0" err="1">
                <a:solidFill>
                  <a:srgbClr val="111827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DevTools</a:t>
            </a:r>
            <a:r>
              <a:rPr lang="en-US" dirty="0">
                <a:solidFill>
                  <a:srgbClr val="111827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ensures rigorous WCAG rule-based testing.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269</Words>
  <Application>Microsoft Office PowerPoint</Application>
  <PresentationFormat>Custom</PresentationFormat>
  <Paragraphs>79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Times New Roman Bold</vt:lpstr>
      <vt:lpstr>Times New Roman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7.pptx</dc:title>
  <cp:lastModifiedBy>user</cp:lastModifiedBy>
  <cp:revision>4</cp:revision>
  <dcterms:created xsi:type="dcterms:W3CDTF">2006-08-16T00:00:00Z</dcterms:created>
  <dcterms:modified xsi:type="dcterms:W3CDTF">2026-07-13T09:31:37Z</dcterms:modified>
  <dc:identifier>DAHOVOFCZLQ</dc:identifier>
</cp:coreProperties>
</file>