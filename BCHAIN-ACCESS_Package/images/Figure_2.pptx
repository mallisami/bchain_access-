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801600" cy="7493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918" y="66"/>
      </p:cViewPr>
      <p:guideLst>
        <p:guide orient="horz" pos="2160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7772400" cy="1362075"/>
          </a:xfrm>
        </p:spPr>
        <p:txBody>
          <a:bodyPr anchor="t"/>
          <a:lstStyle>
            <a:lvl1pPr algn="l">
              <a:defRPr sz="4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1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1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1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2" indent="0">
              <a:buNone/>
              <a:defRPr sz="2000" b="1"/>
            </a:lvl2pPr>
            <a:lvl3pPr marL="914404" indent="0">
              <a:buNone/>
              <a:defRPr sz="1800" b="1"/>
            </a:lvl3pPr>
            <a:lvl4pPr marL="1371607" indent="0">
              <a:buNone/>
              <a:defRPr sz="1600" b="1"/>
            </a:lvl4pPr>
            <a:lvl5pPr marL="1828809" indent="0">
              <a:buNone/>
              <a:defRPr sz="1600" b="1"/>
            </a:lvl5pPr>
            <a:lvl6pPr marL="2286010" indent="0">
              <a:buNone/>
              <a:defRPr sz="1600" b="1"/>
            </a:lvl6pPr>
            <a:lvl7pPr marL="2743212" indent="0">
              <a:buNone/>
              <a:defRPr sz="1600" b="1"/>
            </a:lvl7pPr>
            <a:lvl8pPr marL="3200414" indent="0">
              <a:buNone/>
              <a:defRPr sz="1600" b="1"/>
            </a:lvl8pPr>
            <a:lvl9pPr marL="36576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2" indent="0">
              <a:buNone/>
              <a:defRPr sz="2000" b="1"/>
            </a:lvl2pPr>
            <a:lvl3pPr marL="914404" indent="0">
              <a:buNone/>
              <a:defRPr sz="1800" b="1"/>
            </a:lvl3pPr>
            <a:lvl4pPr marL="1371607" indent="0">
              <a:buNone/>
              <a:defRPr sz="1600" b="1"/>
            </a:lvl4pPr>
            <a:lvl5pPr marL="1828809" indent="0">
              <a:buNone/>
              <a:defRPr sz="1600" b="1"/>
            </a:lvl5pPr>
            <a:lvl6pPr marL="2286010" indent="0">
              <a:buNone/>
              <a:defRPr sz="1600" b="1"/>
            </a:lvl6pPr>
            <a:lvl7pPr marL="2743212" indent="0">
              <a:buNone/>
              <a:defRPr sz="1600" b="1"/>
            </a:lvl7pPr>
            <a:lvl8pPr marL="3200414" indent="0">
              <a:buNone/>
              <a:defRPr sz="1600" b="1"/>
            </a:lvl8pPr>
            <a:lvl9pPr marL="36576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49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202" indent="0">
              <a:buNone/>
              <a:defRPr sz="1199"/>
            </a:lvl2pPr>
            <a:lvl3pPr marL="914404" indent="0">
              <a:buNone/>
              <a:defRPr sz="999"/>
            </a:lvl3pPr>
            <a:lvl4pPr marL="1371607" indent="0">
              <a:buNone/>
              <a:defRPr sz="900"/>
            </a:lvl4pPr>
            <a:lvl5pPr marL="1828809" indent="0">
              <a:buNone/>
              <a:defRPr sz="900"/>
            </a:lvl5pPr>
            <a:lvl6pPr marL="2286010" indent="0">
              <a:buNone/>
              <a:defRPr sz="900"/>
            </a:lvl6pPr>
            <a:lvl7pPr marL="2743212" indent="0">
              <a:buNone/>
              <a:defRPr sz="900"/>
            </a:lvl7pPr>
            <a:lvl8pPr marL="3200414" indent="0">
              <a:buNone/>
              <a:defRPr sz="900"/>
            </a:lvl8pPr>
            <a:lvl9pPr marL="36576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2" indent="0">
              <a:buNone/>
              <a:defRPr sz="2800"/>
            </a:lvl2pPr>
            <a:lvl3pPr marL="914404" indent="0">
              <a:buNone/>
              <a:defRPr sz="2400"/>
            </a:lvl3pPr>
            <a:lvl4pPr marL="1371607" indent="0">
              <a:buNone/>
              <a:defRPr sz="2000"/>
            </a:lvl4pPr>
            <a:lvl5pPr marL="1828809" indent="0">
              <a:buNone/>
              <a:defRPr sz="2000"/>
            </a:lvl5pPr>
            <a:lvl6pPr marL="2286010" indent="0">
              <a:buNone/>
              <a:defRPr sz="2000"/>
            </a:lvl6pPr>
            <a:lvl7pPr marL="2743212" indent="0">
              <a:buNone/>
              <a:defRPr sz="2000"/>
            </a:lvl7pPr>
            <a:lvl8pPr marL="3200414" indent="0">
              <a:buNone/>
              <a:defRPr sz="2000"/>
            </a:lvl8pPr>
            <a:lvl9pPr marL="3657617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202" indent="0">
              <a:buNone/>
              <a:defRPr sz="1199"/>
            </a:lvl2pPr>
            <a:lvl3pPr marL="914404" indent="0">
              <a:buNone/>
              <a:defRPr sz="999"/>
            </a:lvl3pPr>
            <a:lvl4pPr marL="1371607" indent="0">
              <a:buNone/>
              <a:defRPr sz="900"/>
            </a:lvl4pPr>
            <a:lvl5pPr marL="1828809" indent="0">
              <a:buNone/>
              <a:defRPr sz="900"/>
            </a:lvl5pPr>
            <a:lvl6pPr marL="2286010" indent="0">
              <a:buNone/>
              <a:defRPr sz="900"/>
            </a:lvl6pPr>
            <a:lvl7pPr marL="2743212" indent="0">
              <a:buNone/>
              <a:defRPr sz="900"/>
            </a:lvl7pPr>
            <a:lvl8pPr marL="3200414" indent="0">
              <a:buNone/>
              <a:defRPr sz="900"/>
            </a:lvl8pPr>
            <a:lvl9pPr marL="36576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4640"/>
            <a:ext cx="601979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2296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600201"/>
            <a:ext cx="82296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199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40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3" indent="-285751" algn="l" defTabSz="91440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5" indent="-228600" algn="l" defTabSz="91440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7" indent="-228600" algn="l" defTabSz="91440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9" indent="-228600" algn="l" defTabSz="91440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2" indent="-228600" algn="l" defTabSz="91440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4" indent="-228600" algn="l" defTabSz="91440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6" indent="-228600" algn="l" defTabSz="91440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7" indent="-228600" algn="l" defTabSz="91440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4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7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9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0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2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4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7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43294" y="771286"/>
            <a:ext cx="5094637" cy="5923502"/>
            <a:chOff x="-8764365" y="-103760"/>
            <a:chExt cx="6792849" cy="7898003"/>
          </a:xfrm>
        </p:grpSpPr>
        <p:sp>
          <p:nvSpPr>
            <p:cNvPr id="5" name="Freeform 5"/>
            <p:cNvSpPr/>
            <p:nvPr/>
          </p:nvSpPr>
          <p:spPr>
            <a:xfrm>
              <a:off x="-8764365" y="-103760"/>
              <a:ext cx="6792849" cy="7898003"/>
            </a:xfrm>
            <a:custGeom>
              <a:avLst/>
              <a:gdLst/>
              <a:ahLst/>
              <a:cxnLst/>
              <a:rect l="l" t="t" r="r" b="b"/>
              <a:pathLst>
                <a:path w="6792849" h="7898003">
                  <a:moveTo>
                    <a:pt x="0" y="0"/>
                  </a:moveTo>
                  <a:lnTo>
                    <a:pt x="6792849" y="0"/>
                  </a:lnTo>
                  <a:lnTo>
                    <a:pt x="6792849" y="7898003"/>
                  </a:lnTo>
                  <a:lnTo>
                    <a:pt x="0" y="7898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0" r="-15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30875" y="366113"/>
            <a:ext cx="62227" cy="20003"/>
            <a:chOff x="0" y="0"/>
            <a:chExt cx="62230" cy="200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230" cy="20066"/>
            </a:xfrm>
            <a:custGeom>
              <a:avLst/>
              <a:gdLst/>
              <a:ahLst/>
              <a:cxnLst/>
              <a:rect l="l" t="t" r="r" b="b"/>
              <a:pathLst>
                <a:path w="62230" h="20066">
                  <a:moveTo>
                    <a:pt x="0" y="0"/>
                  </a:moveTo>
                  <a:lnTo>
                    <a:pt x="62230" y="0"/>
                  </a:lnTo>
                  <a:lnTo>
                    <a:pt x="62230" y="20066"/>
                  </a:lnTo>
                  <a:lnTo>
                    <a:pt x="0" y="20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982551" y="801890"/>
            <a:ext cx="474926" cy="1456172"/>
            <a:chOff x="0" y="0"/>
            <a:chExt cx="474929" cy="1456169"/>
          </a:xfrm>
        </p:grpSpPr>
        <p:sp>
          <p:nvSpPr>
            <p:cNvPr id="29" name="Freeform 29"/>
            <p:cNvSpPr/>
            <p:nvPr/>
          </p:nvSpPr>
          <p:spPr>
            <a:xfrm>
              <a:off x="63500" y="63500"/>
              <a:ext cx="347979" cy="173355"/>
            </a:xfrm>
            <a:custGeom>
              <a:avLst/>
              <a:gdLst/>
              <a:ahLst/>
              <a:cxnLst/>
              <a:rect l="l" t="t" r="r" b="b"/>
              <a:pathLst>
                <a:path w="347979" h="173355">
                  <a:moveTo>
                    <a:pt x="0" y="173355"/>
                  </a:moveTo>
                  <a:lnTo>
                    <a:pt x="347979" y="173355"/>
                  </a:lnTo>
                  <a:lnTo>
                    <a:pt x="347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9E56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63500" y="352424"/>
              <a:ext cx="347979" cy="173355"/>
            </a:xfrm>
            <a:custGeom>
              <a:avLst/>
              <a:gdLst/>
              <a:ahLst/>
              <a:cxnLst/>
              <a:rect l="l" t="t" r="r" b="b"/>
              <a:pathLst>
                <a:path w="347979" h="173355">
                  <a:moveTo>
                    <a:pt x="0" y="173355"/>
                  </a:moveTo>
                  <a:lnTo>
                    <a:pt x="347979" y="173355"/>
                  </a:lnTo>
                  <a:lnTo>
                    <a:pt x="347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CE6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3500" y="641349"/>
              <a:ext cx="347979" cy="173482"/>
            </a:xfrm>
            <a:custGeom>
              <a:avLst/>
              <a:gdLst/>
              <a:ahLst/>
              <a:cxnLst/>
              <a:rect l="l" t="t" r="r" b="b"/>
              <a:pathLst>
                <a:path w="347979" h="173482">
                  <a:moveTo>
                    <a:pt x="0" y="173482"/>
                  </a:moveTo>
                  <a:lnTo>
                    <a:pt x="347979" y="173482"/>
                  </a:lnTo>
                  <a:lnTo>
                    <a:pt x="347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B4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63500" y="930400"/>
              <a:ext cx="347979" cy="173355"/>
            </a:xfrm>
            <a:custGeom>
              <a:avLst/>
              <a:gdLst/>
              <a:ahLst/>
              <a:cxnLst/>
              <a:rect l="l" t="t" r="r" b="b"/>
              <a:pathLst>
                <a:path w="347979" h="173355">
                  <a:moveTo>
                    <a:pt x="0" y="173355"/>
                  </a:moveTo>
                  <a:lnTo>
                    <a:pt x="347979" y="173355"/>
                  </a:lnTo>
                  <a:lnTo>
                    <a:pt x="347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8A34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63500" y="1219325"/>
              <a:ext cx="347979" cy="173355"/>
            </a:xfrm>
            <a:custGeom>
              <a:avLst/>
              <a:gdLst/>
              <a:ahLst/>
              <a:cxnLst/>
              <a:rect l="l" t="t" r="r" b="b"/>
              <a:pathLst>
                <a:path w="347979" h="173355">
                  <a:moveTo>
                    <a:pt x="0" y="173355"/>
                  </a:moveTo>
                  <a:lnTo>
                    <a:pt x="347979" y="173355"/>
                  </a:lnTo>
                  <a:lnTo>
                    <a:pt x="3479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4B42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927765" y="2845203"/>
            <a:ext cx="2622375" cy="1657303"/>
            <a:chOff x="0" y="0"/>
            <a:chExt cx="2622372" cy="1657299"/>
          </a:xfrm>
        </p:grpSpPr>
        <p:sp>
          <p:nvSpPr>
            <p:cNvPr id="37" name="Freeform 37"/>
            <p:cNvSpPr/>
            <p:nvPr/>
          </p:nvSpPr>
          <p:spPr>
            <a:xfrm>
              <a:off x="68580" y="144018"/>
              <a:ext cx="2485264" cy="1444750"/>
            </a:xfrm>
            <a:custGeom>
              <a:avLst/>
              <a:gdLst/>
              <a:ahLst/>
              <a:cxnLst/>
              <a:rect l="l" t="t" r="r" b="b"/>
              <a:pathLst>
                <a:path w="2485264" h="1444750">
                  <a:moveTo>
                    <a:pt x="0" y="1444749"/>
                  </a:moveTo>
                  <a:lnTo>
                    <a:pt x="2485264" y="1444749"/>
                  </a:lnTo>
                  <a:lnTo>
                    <a:pt x="24852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68580" y="144018"/>
              <a:ext cx="5080" cy="1444750"/>
            </a:xfrm>
            <a:custGeom>
              <a:avLst/>
              <a:gdLst/>
              <a:ahLst/>
              <a:cxnLst/>
              <a:rect l="l" t="t" r="r" b="b"/>
              <a:pathLst>
                <a:path w="5080" h="1444750">
                  <a:moveTo>
                    <a:pt x="0" y="0"/>
                  </a:moveTo>
                  <a:lnTo>
                    <a:pt x="0" y="1444749"/>
                  </a:lnTo>
                  <a:lnTo>
                    <a:pt x="5080" y="1444749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655193" y="144018"/>
              <a:ext cx="10160" cy="1444750"/>
            </a:xfrm>
            <a:custGeom>
              <a:avLst/>
              <a:gdLst/>
              <a:ahLst/>
              <a:cxnLst/>
              <a:rect l="l" t="t" r="r" b="b"/>
              <a:pathLst>
                <a:path w="10160" h="1444750">
                  <a:moveTo>
                    <a:pt x="0" y="0"/>
                  </a:moveTo>
                  <a:lnTo>
                    <a:pt x="0" y="1444749"/>
                  </a:lnTo>
                  <a:lnTo>
                    <a:pt x="10160" y="144474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1246886" y="144018"/>
              <a:ext cx="10160" cy="1444750"/>
            </a:xfrm>
            <a:custGeom>
              <a:avLst/>
              <a:gdLst/>
              <a:ahLst/>
              <a:cxnLst/>
              <a:rect l="l" t="t" r="r" b="b"/>
              <a:pathLst>
                <a:path w="10160" h="1444750">
                  <a:moveTo>
                    <a:pt x="0" y="0"/>
                  </a:moveTo>
                  <a:lnTo>
                    <a:pt x="0" y="1444749"/>
                  </a:lnTo>
                  <a:lnTo>
                    <a:pt x="10161" y="1444749"/>
                  </a:lnTo>
                  <a:lnTo>
                    <a:pt x="10161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1838707" y="144018"/>
              <a:ext cx="10160" cy="1444750"/>
            </a:xfrm>
            <a:custGeom>
              <a:avLst/>
              <a:gdLst/>
              <a:ahLst/>
              <a:cxnLst/>
              <a:rect l="l" t="t" r="r" b="b"/>
              <a:pathLst>
                <a:path w="10160" h="1444750">
                  <a:moveTo>
                    <a:pt x="0" y="0"/>
                  </a:moveTo>
                  <a:lnTo>
                    <a:pt x="0" y="1444749"/>
                  </a:lnTo>
                  <a:lnTo>
                    <a:pt x="10160" y="144474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2430400" y="144018"/>
              <a:ext cx="10160" cy="1444750"/>
            </a:xfrm>
            <a:custGeom>
              <a:avLst/>
              <a:gdLst/>
              <a:ahLst/>
              <a:cxnLst/>
              <a:rect l="l" t="t" r="r" b="b"/>
              <a:pathLst>
                <a:path w="10160" h="1444750">
                  <a:moveTo>
                    <a:pt x="0" y="0"/>
                  </a:moveTo>
                  <a:lnTo>
                    <a:pt x="0" y="1444749"/>
                  </a:lnTo>
                  <a:lnTo>
                    <a:pt x="10160" y="144474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63500" y="1583687"/>
              <a:ext cx="2495424" cy="10160"/>
            </a:xfrm>
            <a:custGeom>
              <a:avLst/>
              <a:gdLst/>
              <a:ahLst/>
              <a:cxnLst/>
              <a:rect l="l" t="t" r="r" b="b"/>
              <a:pathLst>
                <a:path w="2495424" h="10160">
                  <a:moveTo>
                    <a:pt x="5080" y="0"/>
                  </a:moveTo>
                  <a:lnTo>
                    <a:pt x="2490344" y="0"/>
                  </a:lnTo>
                  <a:lnTo>
                    <a:pt x="2495424" y="0"/>
                  </a:lnTo>
                  <a:lnTo>
                    <a:pt x="2495424" y="10160"/>
                  </a:lnTo>
                  <a:lnTo>
                    <a:pt x="2490344" y="10160"/>
                  </a:lnTo>
                  <a:lnTo>
                    <a:pt x="508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26B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68580" y="209677"/>
              <a:ext cx="1712320" cy="310768"/>
            </a:xfrm>
            <a:custGeom>
              <a:avLst/>
              <a:gdLst/>
              <a:ahLst/>
              <a:cxnLst/>
              <a:rect l="l" t="t" r="r" b="b"/>
              <a:pathLst>
                <a:path w="1656843" h="310768">
                  <a:moveTo>
                    <a:pt x="0" y="0"/>
                  </a:moveTo>
                  <a:lnTo>
                    <a:pt x="0" y="310768"/>
                  </a:lnTo>
                  <a:lnTo>
                    <a:pt x="1656843" y="310768"/>
                  </a:lnTo>
                  <a:lnTo>
                    <a:pt x="1656843" y="0"/>
                  </a:lnTo>
                  <a:close/>
                </a:path>
              </a:pathLst>
            </a:custGeom>
            <a:solidFill>
              <a:srgbClr val="2E6FB5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68580" y="710945"/>
              <a:ext cx="1358046" cy="310768"/>
            </a:xfrm>
            <a:custGeom>
              <a:avLst/>
              <a:gdLst/>
              <a:ahLst/>
              <a:cxnLst/>
              <a:rect l="l" t="t" r="r" b="b"/>
              <a:pathLst>
                <a:path w="1420115" h="310768">
                  <a:moveTo>
                    <a:pt x="0" y="0"/>
                  </a:moveTo>
                  <a:lnTo>
                    <a:pt x="0" y="310768"/>
                  </a:lnTo>
                  <a:lnTo>
                    <a:pt x="1420115" y="310768"/>
                  </a:lnTo>
                  <a:lnTo>
                    <a:pt x="1420115" y="0"/>
                  </a:lnTo>
                  <a:close/>
                </a:path>
              </a:pathLst>
            </a:custGeom>
            <a:solidFill>
              <a:srgbClr val="2E8B57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68580" y="1212213"/>
              <a:ext cx="1656843" cy="310768"/>
            </a:xfrm>
            <a:custGeom>
              <a:avLst/>
              <a:gdLst/>
              <a:ahLst/>
              <a:cxnLst/>
              <a:rect l="l" t="t" r="r" b="b"/>
              <a:pathLst>
                <a:path w="1656843" h="310768">
                  <a:moveTo>
                    <a:pt x="0" y="0"/>
                  </a:moveTo>
                  <a:lnTo>
                    <a:pt x="0" y="310768"/>
                  </a:lnTo>
                  <a:lnTo>
                    <a:pt x="1656843" y="310768"/>
                  </a:lnTo>
                  <a:lnTo>
                    <a:pt x="1656843" y="0"/>
                  </a:lnTo>
                  <a:close/>
                </a:path>
              </a:pathLst>
            </a:custGeom>
            <a:solidFill>
              <a:srgbClr val="C77A2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927765" y="5165036"/>
            <a:ext cx="2622375" cy="1576836"/>
            <a:chOff x="0" y="0"/>
            <a:chExt cx="2622372" cy="1576832"/>
          </a:xfrm>
        </p:grpSpPr>
        <p:sp>
          <p:nvSpPr>
            <p:cNvPr id="50" name="Freeform 50"/>
            <p:cNvSpPr/>
            <p:nvPr/>
          </p:nvSpPr>
          <p:spPr>
            <a:xfrm>
              <a:off x="68580" y="63500"/>
              <a:ext cx="2485264" cy="1444752"/>
            </a:xfrm>
            <a:custGeom>
              <a:avLst/>
              <a:gdLst/>
              <a:ahLst/>
              <a:cxnLst/>
              <a:rect l="l" t="t" r="r" b="b"/>
              <a:pathLst>
                <a:path w="2485264" h="1444752">
                  <a:moveTo>
                    <a:pt x="0" y="1444752"/>
                  </a:moveTo>
                  <a:lnTo>
                    <a:pt x="2485264" y="1444752"/>
                  </a:lnTo>
                  <a:lnTo>
                    <a:pt x="24852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68580" y="63500"/>
              <a:ext cx="5080" cy="1444752"/>
            </a:xfrm>
            <a:custGeom>
              <a:avLst/>
              <a:gdLst/>
              <a:ahLst/>
              <a:cxnLst/>
              <a:rect l="l" t="t" r="r" b="b"/>
              <a:pathLst>
                <a:path w="5080" h="1444752">
                  <a:moveTo>
                    <a:pt x="0" y="0"/>
                  </a:moveTo>
                  <a:lnTo>
                    <a:pt x="0" y="1444752"/>
                  </a:lnTo>
                  <a:lnTo>
                    <a:pt x="5080" y="1444752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560578" y="63500"/>
              <a:ext cx="10160" cy="1444752"/>
            </a:xfrm>
            <a:custGeom>
              <a:avLst/>
              <a:gdLst/>
              <a:ahLst/>
              <a:cxnLst/>
              <a:rect l="l" t="t" r="r" b="b"/>
              <a:pathLst>
                <a:path w="10160" h="1444752">
                  <a:moveTo>
                    <a:pt x="0" y="0"/>
                  </a:moveTo>
                  <a:lnTo>
                    <a:pt x="0" y="1444752"/>
                  </a:lnTo>
                  <a:lnTo>
                    <a:pt x="10160" y="1444752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1057529" y="63500"/>
              <a:ext cx="10160" cy="1444752"/>
            </a:xfrm>
            <a:custGeom>
              <a:avLst/>
              <a:gdLst/>
              <a:ahLst/>
              <a:cxnLst/>
              <a:rect l="l" t="t" r="r" b="b"/>
              <a:pathLst>
                <a:path w="10160" h="1444752">
                  <a:moveTo>
                    <a:pt x="0" y="0"/>
                  </a:moveTo>
                  <a:lnTo>
                    <a:pt x="0" y="1444752"/>
                  </a:lnTo>
                  <a:lnTo>
                    <a:pt x="10160" y="1444752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1554608" y="63500"/>
              <a:ext cx="10160" cy="1444752"/>
            </a:xfrm>
            <a:custGeom>
              <a:avLst/>
              <a:gdLst/>
              <a:ahLst/>
              <a:cxnLst/>
              <a:rect l="l" t="t" r="r" b="b"/>
              <a:pathLst>
                <a:path w="10160" h="1444752">
                  <a:moveTo>
                    <a:pt x="0" y="0"/>
                  </a:moveTo>
                  <a:lnTo>
                    <a:pt x="0" y="1444752"/>
                  </a:lnTo>
                  <a:lnTo>
                    <a:pt x="10160" y="1444752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2051686" y="63500"/>
              <a:ext cx="10160" cy="1444752"/>
            </a:xfrm>
            <a:custGeom>
              <a:avLst/>
              <a:gdLst/>
              <a:ahLst/>
              <a:cxnLst/>
              <a:rect l="l" t="t" r="r" b="b"/>
              <a:pathLst>
                <a:path w="10160" h="1444752">
                  <a:moveTo>
                    <a:pt x="0" y="0"/>
                  </a:moveTo>
                  <a:lnTo>
                    <a:pt x="0" y="1444752"/>
                  </a:lnTo>
                  <a:lnTo>
                    <a:pt x="10160" y="1444752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2548764" y="63500"/>
              <a:ext cx="5080" cy="1444752"/>
            </a:xfrm>
            <a:custGeom>
              <a:avLst/>
              <a:gdLst/>
              <a:ahLst/>
              <a:cxnLst/>
              <a:rect l="l" t="t" r="r" b="b"/>
              <a:pathLst>
                <a:path w="5080" h="1444752">
                  <a:moveTo>
                    <a:pt x="0" y="0"/>
                  </a:moveTo>
                  <a:lnTo>
                    <a:pt x="0" y="1444752"/>
                  </a:lnTo>
                  <a:lnTo>
                    <a:pt x="5080" y="1444752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E4E7EB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63500" y="1503172"/>
              <a:ext cx="2495424" cy="10160"/>
            </a:xfrm>
            <a:custGeom>
              <a:avLst/>
              <a:gdLst/>
              <a:ahLst/>
              <a:cxnLst/>
              <a:rect l="l" t="t" r="r" b="b"/>
              <a:pathLst>
                <a:path w="2495424" h="10160">
                  <a:moveTo>
                    <a:pt x="5080" y="0"/>
                  </a:moveTo>
                  <a:lnTo>
                    <a:pt x="2490344" y="0"/>
                  </a:lnTo>
                  <a:lnTo>
                    <a:pt x="2495424" y="0"/>
                  </a:lnTo>
                  <a:lnTo>
                    <a:pt x="2495424" y="10160"/>
                  </a:lnTo>
                  <a:lnTo>
                    <a:pt x="2490344" y="10160"/>
                  </a:lnTo>
                  <a:lnTo>
                    <a:pt x="5080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26B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68580" y="129159"/>
              <a:ext cx="1739647" cy="310769"/>
            </a:xfrm>
            <a:custGeom>
              <a:avLst/>
              <a:gdLst/>
              <a:ahLst/>
              <a:cxnLst/>
              <a:rect l="l" t="t" r="r" b="b"/>
              <a:pathLst>
                <a:path w="1739647" h="310769">
                  <a:moveTo>
                    <a:pt x="0" y="0"/>
                  </a:moveTo>
                  <a:lnTo>
                    <a:pt x="0" y="310769"/>
                  </a:lnTo>
                  <a:lnTo>
                    <a:pt x="1739647" y="310769"/>
                  </a:lnTo>
                  <a:lnTo>
                    <a:pt x="1739647" y="0"/>
                  </a:lnTo>
                  <a:close/>
                </a:path>
              </a:pathLst>
            </a:custGeom>
            <a:solidFill>
              <a:srgbClr val="2E6FB5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68580" y="630428"/>
              <a:ext cx="994029" cy="310896"/>
            </a:xfrm>
            <a:custGeom>
              <a:avLst/>
              <a:gdLst/>
              <a:ahLst/>
              <a:cxnLst/>
              <a:rect l="l" t="t" r="r" b="b"/>
              <a:pathLst>
                <a:path w="994029" h="310896">
                  <a:moveTo>
                    <a:pt x="0" y="0"/>
                  </a:moveTo>
                  <a:lnTo>
                    <a:pt x="0" y="310896"/>
                  </a:lnTo>
                  <a:lnTo>
                    <a:pt x="994029" y="310896"/>
                  </a:lnTo>
                  <a:lnTo>
                    <a:pt x="994029" y="0"/>
                  </a:lnTo>
                  <a:close/>
                </a:path>
              </a:pathLst>
            </a:custGeom>
            <a:solidFill>
              <a:srgbClr val="2E8B57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68580" y="1131824"/>
              <a:ext cx="1491108" cy="310769"/>
            </a:xfrm>
            <a:custGeom>
              <a:avLst/>
              <a:gdLst/>
              <a:ahLst/>
              <a:cxnLst/>
              <a:rect l="l" t="t" r="r" b="b"/>
              <a:pathLst>
                <a:path w="1491108" h="310769">
                  <a:moveTo>
                    <a:pt x="0" y="0"/>
                  </a:moveTo>
                  <a:lnTo>
                    <a:pt x="0" y="310769"/>
                  </a:lnTo>
                  <a:lnTo>
                    <a:pt x="1491108" y="310769"/>
                  </a:lnTo>
                  <a:lnTo>
                    <a:pt x="1491108" y="0"/>
                  </a:lnTo>
                  <a:close/>
                </a:path>
              </a:pathLst>
            </a:custGeom>
            <a:solidFill>
              <a:srgbClr val="C77A2B"/>
            </a:solidFill>
          </p:spPr>
        </p:sp>
      </p:grpSp>
      <p:sp>
        <p:nvSpPr>
          <p:cNvPr id="146" name="Patch MedRec H8"/>
          <p:cNvSpPr/>
          <p:nvPr/>
        </p:nvSpPr>
        <p:spPr>
          <a:xfrm>
            <a:off x="3855478" y="4898529"/>
            <a:ext cx="1230983" cy="562328"/>
          </a:xfrm>
          <a:prstGeom prst="rect">
            <a:avLst/>
          </a:prstGeom>
          <a:solidFill>
            <a:srgbClr val="E9C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9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Patch Patientory H8"/>
          <p:cNvSpPr/>
          <p:nvPr/>
        </p:nvSpPr>
        <p:spPr>
          <a:xfrm>
            <a:off x="5116460" y="4898529"/>
            <a:ext cx="1243682" cy="562328"/>
          </a:xfrm>
          <a:prstGeom prst="rect">
            <a:avLst/>
          </a:prstGeom>
          <a:solidFill>
            <a:srgbClr val="A9C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181846" y="431884"/>
            <a:ext cx="888359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MedRec</a:t>
            </a:r>
            <a:r>
              <a:rPr lang="en-US" sz="1600" b="1" dirty="0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430879" y="1546727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430879" y="21390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430879" y="273141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30879" y="33237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430879" y="391611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430879" y="45084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430879" y="510081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430879" y="569315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30879" y="628550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950602" y="260518"/>
            <a:ext cx="56351" cy="19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49"/>
              </a:lnSpc>
            </a:pPr>
            <a:r>
              <a:rPr lang="en-US" sz="1199" b="1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57289" y="430694"/>
            <a:ext cx="945109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Patientory</a:t>
            </a:r>
            <a:r>
              <a:rPr lang="en-US" sz="1600" b="1" dirty="0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04551" y="1546727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704551" y="21390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04551" y="273141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704551" y="33237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704551" y="391611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704551" y="45084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704551" y="510081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1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704551" y="569315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704551" y="628550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084714" y="260518"/>
            <a:ext cx="56351" cy="19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49"/>
              </a:lnSpc>
            </a:pPr>
            <a:r>
              <a:rPr lang="en-US" sz="1199" b="1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740596" y="431884"/>
            <a:ext cx="79262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BurstIQ</a:t>
            </a:r>
            <a:r>
              <a:rPr lang="en-US" sz="1199" b="1" dirty="0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978225" y="1546727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978225" y="21390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978225" y="273141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978225" y="33237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978225" y="391611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978225" y="45084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978225" y="510081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978225" y="569315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978225" y="628550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076971" y="431884"/>
            <a:ext cx="700489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600" b="1" dirty="0"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Worst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251888" y="1546727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251888" y="21390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251888" y="273141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251888" y="33237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251888" y="391611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8251888" y="4508468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51888" y="510081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251888" y="569315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251888" y="6285509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600201" y="978438"/>
            <a:ext cx="2239072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H1 · Visibility of system status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600201" y="1570787"/>
            <a:ext cx="2239072" cy="333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H2 · Match between system and real world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600201" y="2168861"/>
            <a:ext cx="2239072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B020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H3 · User control &amp; freedom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600201" y="2755487"/>
            <a:ext cx="2239072" cy="333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H4 · Consistency and   standards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600201" y="3347379"/>
            <a:ext cx="2239072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H5 · Error prevention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600201" y="3934444"/>
            <a:ext cx="2120369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H6 · Recognition over Recall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600201" y="4532528"/>
            <a:ext cx="2239072" cy="333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H7 · Flexibility and efficiency of use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600201" y="5126456"/>
            <a:ext cx="2308707" cy="333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H8 · Aesthetic and minimalist design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600201" y="5693160"/>
            <a:ext cx="2239072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B020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H9 · Error Recovery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00201" y="6311606"/>
            <a:ext cx="2239072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H10 · Help and documentation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325518" y="3123781"/>
            <a:ext cx="633984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MedRec</a:t>
            </a:r>
            <a:endParaRPr lang="en-US" sz="1401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14" name="TextBox 114"/>
          <p:cNvSpPr txBox="1"/>
          <p:nvPr/>
        </p:nvSpPr>
        <p:spPr>
          <a:xfrm>
            <a:off x="9220201" y="3644456"/>
            <a:ext cx="741597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Patientory</a:t>
            </a:r>
            <a:endParaRPr lang="en-US" sz="1401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15" name="TextBox 115"/>
          <p:cNvSpPr txBox="1"/>
          <p:nvPr/>
        </p:nvSpPr>
        <p:spPr>
          <a:xfrm>
            <a:off x="9325520" y="4101607"/>
            <a:ext cx="634127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BurstIQ</a:t>
            </a:r>
            <a:endParaRPr lang="en-US" sz="1401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9955970" y="4455423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325376" y="5382074"/>
            <a:ext cx="634127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MedRec</a:t>
            </a:r>
            <a:endParaRPr lang="en-US" sz="1401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18" name="TextBox 118"/>
          <p:cNvSpPr txBox="1"/>
          <p:nvPr/>
        </p:nvSpPr>
        <p:spPr>
          <a:xfrm>
            <a:off x="9220201" y="5883373"/>
            <a:ext cx="741597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Patientory</a:t>
            </a:r>
            <a:endParaRPr lang="en-US" sz="1199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19" name="TextBox 119"/>
          <p:cNvSpPr txBox="1"/>
          <p:nvPr/>
        </p:nvSpPr>
        <p:spPr>
          <a:xfrm>
            <a:off x="9325518" y="6384674"/>
            <a:ext cx="634128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BurstIQ</a:t>
            </a:r>
            <a:endParaRPr lang="en-US" sz="1401" dirty="0">
              <a:solidFill>
                <a:srgbClr val="000000"/>
              </a:solidFill>
              <a:latin typeface="Times New Roman" panose="02020603050405020304" pitchFamily="18" charset="0"/>
              <a:ea typeface="DejaVu Sans Light"/>
              <a:cs typeface="Times New Roman" panose="02020603050405020304" pitchFamily="18" charset="0"/>
              <a:sym typeface="DejaVu Sans Light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9955970" y="6694788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0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1027713" y="5864448"/>
            <a:ext cx="86554" cy="16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4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640177" y="565900"/>
            <a:ext cx="48683" cy="1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12"/>
              </a:lnSpc>
            </a:pPr>
            <a:r>
              <a:rPr lang="en-US" sz="1199" b="1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543100" y="785612"/>
            <a:ext cx="1238438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74"/>
              </a:lnSpc>
            </a:pPr>
            <a:r>
              <a:rPr lang="en-US" sz="1600" dirty="0">
                <a:solidFill>
                  <a:srgbClr val="20242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0 No problem</a:t>
            </a:r>
          </a:p>
          <a:p>
            <a:pPr algn="just">
              <a:lnSpc>
                <a:spcPts val="2274"/>
              </a:lnSpc>
            </a:pPr>
            <a:r>
              <a:rPr lang="en-US" sz="1600" dirty="0">
                <a:solidFill>
                  <a:srgbClr val="20242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1 Cosmetic</a:t>
            </a:r>
          </a:p>
          <a:p>
            <a:pPr algn="just">
              <a:lnSpc>
                <a:spcPts val="2274"/>
              </a:lnSpc>
            </a:pPr>
            <a:r>
              <a:rPr lang="en-US" sz="1600" dirty="0">
                <a:solidFill>
                  <a:srgbClr val="20242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2 Minor</a:t>
            </a:r>
          </a:p>
          <a:p>
            <a:pPr algn="just">
              <a:lnSpc>
                <a:spcPts val="2274"/>
              </a:lnSpc>
            </a:pPr>
            <a:r>
              <a:rPr lang="en-US" sz="1600" dirty="0">
                <a:solidFill>
                  <a:srgbClr val="20242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3 Major</a:t>
            </a:r>
          </a:p>
          <a:p>
            <a:pPr algn="just">
              <a:lnSpc>
                <a:spcPts val="2274"/>
              </a:lnSpc>
            </a:pPr>
            <a:r>
              <a:rPr lang="en-US" sz="1600" dirty="0">
                <a:solidFill>
                  <a:srgbClr val="20242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4 Catastrophic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1524756" y="6365748"/>
            <a:ext cx="86554" cy="16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6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644047" y="2781806"/>
            <a:ext cx="47787" cy="1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199" b="1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1700491" y="3123781"/>
            <a:ext cx="317734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2.9</a:t>
            </a:r>
            <a:endParaRPr lang="en-US" sz="1199" b="1" dirty="0">
              <a:solidFill>
                <a:srgbClr val="20242A"/>
              </a:solidFill>
              <a:latin typeface="Times New Roman" panose="02020603050405020304" pitchFamily="18" charset="0"/>
              <a:ea typeface="DejaVu Sans Bold"/>
              <a:cs typeface="Times New Roman" panose="02020603050405020304" pitchFamily="18" charset="0"/>
              <a:sym typeface="DejaVu Sans Bold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11463804" y="3625083"/>
            <a:ext cx="317734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2.3</a:t>
            </a:r>
            <a:endParaRPr lang="en-US" sz="1199" b="1" dirty="0">
              <a:solidFill>
                <a:srgbClr val="20242A"/>
              </a:solidFill>
              <a:latin typeface="Times New Roman" panose="02020603050405020304" pitchFamily="18" charset="0"/>
              <a:ea typeface="DejaVu Sans Bold"/>
              <a:cs typeface="Times New Roman" panose="02020603050405020304" pitchFamily="18" charset="0"/>
              <a:sym typeface="DejaVu Sans Bold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11700491" y="4126382"/>
            <a:ext cx="317734" cy="167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2.8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1731114" y="4455423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3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364851" y="260518"/>
            <a:ext cx="412552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49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Heuristic severity scores (0–4) by application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996345" y="565900"/>
            <a:ext cx="1543736" cy="1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12"/>
              </a:lnSpc>
            </a:pPr>
            <a:r>
              <a:rPr lang="en-US" sz="1199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Severity scale (0–4)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0453012" y="6694788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2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547681" y="4455423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1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950055" y="6694788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4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1139403" y="4455423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2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1447098" y="6694788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6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1944141" y="6694788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8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2322836" y="4455423"/>
            <a:ext cx="8239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4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2344400" y="6694789"/>
            <a:ext cx="221171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1"/>
              </a:lnSpc>
            </a:pPr>
            <a:r>
              <a:rPr lang="en-US" sz="1401" dirty="0">
                <a:solidFill>
                  <a:srgbClr val="000000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10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2356194" y="7081466"/>
            <a:ext cx="3542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5"/>
              </a:lnSpc>
            </a:pPr>
            <a:r>
              <a:rPr lang="en-US" sz="1199">
                <a:solidFill>
                  <a:srgbClr val="4A515A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9996346" y="2747506"/>
            <a:ext cx="1650000" cy="14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7"/>
              </a:lnSpc>
            </a:pPr>
            <a:r>
              <a:rPr lang="en-US" sz="1401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Average severity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996346" y="4882658"/>
            <a:ext cx="2172557" cy="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40"/>
              </a:lnSpc>
            </a:pPr>
            <a:r>
              <a:rPr lang="en-US" sz="1401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Major (3) + Catastrophic (4) violations (of 10 heuristics)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1773271" y="5363146"/>
            <a:ext cx="86554" cy="16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1401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7</a:t>
            </a:r>
          </a:p>
        </p:txBody>
      </p:sp>
      <p:sp>
        <p:nvSpPr>
          <p:cNvPr id="142" name="TextBox 73">
            <a:extLst>
              <a:ext uri="{FF2B5EF4-FFF2-40B4-BE49-F238E27FC236}">
                <a16:creationId xmlns:a16="http://schemas.microsoft.com/office/drawing/2014/main" id="{807A60CD-A34E-45A7-A179-FD9C7850E984}"/>
              </a:ext>
            </a:extLst>
          </p:cNvPr>
          <p:cNvSpPr txBox="1"/>
          <p:nvPr/>
        </p:nvSpPr>
        <p:spPr>
          <a:xfrm>
            <a:off x="5638800" y="85090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149" name="TextBox 73">
            <a:extLst>
              <a:ext uri="{FF2B5EF4-FFF2-40B4-BE49-F238E27FC236}">
                <a16:creationId xmlns:a16="http://schemas.microsoft.com/office/drawing/2014/main" id="{DEDAC88F-1E12-C63E-F3C3-0CEA96946CE9}"/>
              </a:ext>
            </a:extLst>
          </p:cNvPr>
          <p:cNvSpPr txBox="1"/>
          <p:nvPr/>
        </p:nvSpPr>
        <p:spPr>
          <a:xfrm>
            <a:off x="4553531" y="85090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  <p:sp>
        <p:nvSpPr>
          <p:cNvPr id="151" name="TextBox 73">
            <a:extLst>
              <a:ext uri="{FF2B5EF4-FFF2-40B4-BE49-F238E27FC236}">
                <a16:creationId xmlns:a16="http://schemas.microsoft.com/office/drawing/2014/main" id="{43CB835A-E40E-BE79-E64A-5C1292426101}"/>
              </a:ext>
            </a:extLst>
          </p:cNvPr>
          <p:cNvSpPr txBox="1"/>
          <p:nvPr/>
        </p:nvSpPr>
        <p:spPr>
          <a:xfrm>
            <a:off x="7072434" y="850900"/>
            <a:ext cx="86063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2</a:t>
            </a:r>
          </a:p>
        </p:txBody>
      </p:sp>
      <p:sp>
        <p:nvSpPr>
          <p:cNvPr id="153" name="TextBox 73">
            <a:extLst>
              <a:ext uri="{FF2B5EF4-FFF2-40B4-BE49-F238E27FC236}">
                <a16:creationId xmlns:a16="http://schemas.microsoft.com/office/drawing/2014/main" id="{B0ECC470-7349-95CB-D080-0DA640EB887A}"/>
              </a:ext>
            </a:extLst>
          </p:cNvPr>
          <p:cNvSpPr txBox="1"/>
          <p:nvPr/>
        </p:nvSpPr>
        <p:spPr>
          <a:xfrm>
            <a:off x="8287331" y="887140"/>
            <a:ext cx="9466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70"/>
              </a:lnSpc>
            </a:pPr>
            <a:r>
              <a:rPr lang="en-US" sz="1600" b="1" dirty="0">
                <a:solidFill>
                  <a:srgbClr val="20242A"/>
                </a:solidFill>
                <a:latin typeface="Times New Roman" panose="02020603050405020304" pitchFamily="18" charset="0"/>
                <a:ea typeface="DejaVu Sans Bold"/>
                <a:cs typeface="Times New Roman" panose="02020603050405020304" pitchFamily="18" charset="0"/>
                <a:sym typeface="DejaVu Sans Bold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169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Times New Roman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fig2_severity.pdf</dc:title>
  <cp:lastModifiedBy>user</cp:lastModifiedBy>
  <cp:revision>7</cp:revision>
  <dcterms:created xsi:type="dcterms:W3CDTF">2006-08-16T00:00:00Z</dcterms:created>
  <dcterms:modified xsi:type="dcterms:W3CDTF">2026-07-13T14:00:54Z</dcterms:modified>
  <dc:identifier>DAHOWtn5xuU</dc:identifier>
</cp:coreProperties>
</file>